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Lakes Neue Expanded Bold" charset="1" panose="02010001040000080307"/>
      <p:regular r:id="rId15"/>
    </p:embeddedFont>
    <p:embeddedFont>
      <p:font typeface="Poppins" charset="1" panose="00000500000000000000"/>
      <p:regular r:id="rId16"/>
    </p:embeddedFont>
    <p:embeddedFont>
      <p:font typeface="Poppins Semi-Bold" charset="1" panose="00000700000000000000"/>
      <p:regular r:id="rId17"/>
    </p:embeddedFont>
    <p:embeddedFont>
      <p:font typeface="Poppins Bold" charset="1" panose="00000800000000000000"/>
      <p:regular r:id="rId18"/>
    </p:embeddedFont>
    <p:embeddedFont>
      <p:font typeface="Poppins Italic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pn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3.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3.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3.pn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https://builtin.com/machine-learning/machine-learning-libraries" TargetMode="External" Type="http://schemas.openxmlformats.org/officeDocument/2006/relationships/hyperlink"/><Relationship Id="rId13" Target="https://builtin.com/data-science/data-management" TargetMode="External" Type="http://schemas.openxmlformats.org/officeDocument/2006/relationships/hyperlink"/><Relationship Id="rId14" Target="https://builtin.com/learn/tech-dictionary/java" TargetMode="External" Type="http://schemas.openxmlformats.org/officeDocument/2006/relationships/hyperlink"/><Relationship Id="rId15" Target="https://builtin.com/learn/tech-dictionary/php" TargetMode="External" Type="http://schemas.openxmlformats.org/officeDocument/2006/relationships/hyperlink"/><Relationship Id="rId16" Target="https://builtin.com/learn/tech-dictionary/python" TargetMode="External" Type="http://schemas.openxmlformats.org/officeDocument/2006/relationships/hyperlink"/><Relationship Id="rId17" Target="https://builtin.com/articles/sql-server-database-management-tools" TargetMode="External" Type="http://schemas.openxmlformats.org/officeDocument/2006/relationships/hyperlink"/><Relationship Id="rId18" Target="https://builtin.com/articles/types-of-databases" TargetMode="External" Type="http://schemas.openxmlformats.org/officeDocument/2006/relationships/hyperlink"/><Relationship Id="rId2" Target="../media/image34.png" Type="http://schemas.openxmlformats.org/officeDocument/2006/relationships/image"/><Relationship Id="rId3" Target="../media/image3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png" Type="http://schemas.openxmlformats.org/officeDocument/2006/relationships/image"/><Relationship Id="rId9" Target="../media/image3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771865" y="-485270"/>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55865" y="837130"/>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4"/>
            <a:stretch>
              <a:fillRect l="0" t="0" r="0" b="0"/>
            </a:stretch>
          </a:blipFill>
        </p:spPr>
      </p:sp>
      <p:sp>
        <p:nvSpPr>
          <p:cNvPr name="Freeform 4" id="4"/>
          <p:cNvSpPr/>
          <p:nvPr/>
        </p:nvSpPr>
        <p:spPr>
          <a:xfrm flipH="false" flipV="false" rot="0">
            <a:off x="-5033811" y="837130"/>
            <a:ext cx="6994113" cy="8229600"/>
          </a:xfrm>
          <a:custGeom>
            <a:avLst/>
            <a:gdLst/>
            <a:ahLst/>
            <a:cxnLst/>
            <a:rect r="r" b="b" t="t" l="l"/>
            <a:pathLst>
              <a:path h="8229600" w="6994113">
                <a:moveTo>
                  <a:pt x="0" y="0"/>
                </a:moveTo>
                <a:lnTo>
                  <a:pt x="6994112" y="0"/>
                </a:lnTo>
                <a:lnTo>
                  <a:pt x="6994112"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886818" y="1824772"/>
            <a:ext cx="16514364" cy="7086163"/>
          </a:xfrm>
          <a:custGeom>
            <a:avLst/>
            <a:gdLst/>
            <a:ahLst/>
            <a:cxnLst/>
            <a:rect r="r" b="b" t="t" l="l"/>
            <a:pathLst>
              <a:path h="7086163" w="16514364">
                <a:moveTo>
                  <a:pt x="0" y="0"/>
                </a:moveTo>
                <a:lnTo>
                  <a:pt x="16514364" y="0"/>
                </a:lnTo>
                <a:lnTo>
                  <a:pt x="16514364" y="7086163"/>
                </a:lnTo>
                <a:lnTo>
                  <a:pt x="0" y="70861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995640" y="3373499"/>
            <a:ext cx="4292360" cy="5991873"/>
          </a:xfrm>
          <a:custGeom>
            <a:avLst/>
            <a:gdLst/>
            <a:ahLst/>
            <a:cxnLst/>
            <a:rect r="r" b="b" t="t" l="l"/>
            <a:pathLst>
              <a:path h="5991873" w="4292360">
                <a:moveTo>
                  <a:pt x="0" y="0"/>
                </a:moveTo>
                <a:lnTo>
                  <a:pt x="4292360" y="0"/>
                </a:lnTo>
                <a:lnTo>
                  <a:pt x="4292360" y="5991874"/>
                </a:lnTo>
                <a:lnTo>
                  <a:pt x="0" y="59918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0196802" y="2019139"/>
            <a:ext cx="5522749" cy="7047591"/>
          </a:xfrm>
          <a:custGeom>
            <a:avLst/>
            <a:gdLst/>
            <a:ahLst/>
            <a:cxnLst/>
            <a:rect r="r" b="b" t="t" l="l"/>
            <a:pathLst>
              <a:path h="7047591" w="5522749">
                <a:moveTo>
                  <a:pt x="0" y="0"/>
                </a:moveTo>
                <a:lnTo>
                  <a:pt x="5522749" y="0"/>
                </a:lnTo>
                <a:lnTo>
                  <a:pt x="5522749" y="7047591"/>
                </a:lnTo>
                <a:lnTo>
                  <a:pt x="0" y="70475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2131751" y="1993959"/>
            <a:ext cx="685996" cy="518768"/>
          </a:xfrm>
          <a:custGeom>
            <a:avLst/>
            <a:gdLst/>
            <a:ahLst/>
            <a:cxnLst/>
            <a:rect r="r" b="b" t="t" l="l"/>
            <a:pathLst>
              <a:path h="518768" w="685996">
                <a:moveTo>
                  <a:pt x="0" y="0"/>
                </a:moveTo>
                <a:lnTo>
                  <a:pt x="685997" y="0"/>
                </a:lnTo>
                <a:lnTo>
                  <a:pt x="685997" y="518768"/>
                </a:lnTo>
                <a:lnTo>
                  <a:pt x="0" y="5187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8071668" y="196344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0" id="10"/>
          <p:cNvGrpSpPr/>
          <p:nvPr/>
        </p:nvGrpSpPr>
        <p:grpSpPr>
          <a:xfrm rot="0">
            <a:off x="7600950" y="9365373"/>
            <a:ext cx="3086100" cy="30861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2" id="12"/>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TextBox 13" id="13"/>
          <p:cNvSpPr txBox="true"/>
          <p:nvPr/>
        </p:nvSpPr>
        <p:spPr>
          <a:xfrm rot="0">
            <a:off x="1200854" y="3783340"/>
            <a:ext cx="8383468" cy="3099767"/>
          </a:xfrm>
          <a:prstGeom prst="rect">
            <a:avLst/>
          </a:prstGeom>
        </p:spPr>
        <p:txBody>
          <a:bodyPr anchor="t" rtlCol="false" tIns="0" lIns="0" bIns="0" rIns="0">
            <a:spAutoFit/>
          </a:bodyPr>
          <a:lstStyle/>
          <a:p>
            <a:pPr algn="l">
              <a:lnSpc>
                <a:spcPts val="6123"/>
              </a:lnSpc>
            </a:pPr>
            <a:r>
              <a:rPr lang="en-US" sz="5831" b="true">
                <a:solidFill>
                  <a:srgbClr val="FFFFFF"/>
                </a:solidFill>
                <a:latin typeface="TT Lakes Neue Expanded Bold"/>
                <a:ea typeface="TT Lakes Neue Expanded Bold"/>
                <a:cs typeface="TT Lakes Neue Expanded Bold"/>
                <a:sym typeface="TT Lakes Neue Expanded Bold"/>
              </a:rPr>
              <a:t>SISTEMA GESTOR DE BASE DE DATOS </a:t>
            </a:r>
          </a:p>
        </p:txBody>
      </p:sp>
      <p:sp>
        <p:nvSpPr>
          <p:cNvPr name="TextBox 14" id="14"/>
          <p:cNvSpPr txBox="true"/>
          <p:nvPr/>
        </p:nvSpPr>
        <p:spPr>
          <a:xfrm rot="0">
            <a:off x="2990831" y="2156189"/>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5" id="15"/>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504799" y="-4310074"/>
            <a:ext cx="11706247" cy="11706247"/>
          </a:xfrm>
          <a:custGeom>
            <a:avLst/>
            <a:gdLst/>
            <a:ahLst/>
            <a:cxnLst/>
            <a:rect r="r" b="b" t="t" l="l"/>
            <a:pathLst>
              <a:path h="11706247" w="11706247">
                <a:moveTo>
                  <a:pt x="0" y="0"/>
                </a:moveTo>
                <a:lnTo>
                  <a:pt x="11706248" y="0"/>
                </a:lnTo>
                <a:lnTo>
                  <a:pt x="11706248" y="11706248"/>
                </a:lnTo>
                <a:lnTo>
                  <a:pt x="0" y="117062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49132" y="1585901"/>
            <a:ext cx="6765661" cy="7672399"/>
          </a:xfrm>
          <a:custGeom>
            <a:avLst/>
            <a:gdLst/>
            <a:ahLst/>
            <a:cxnLst/>
            <a:rect r="r" b="b" t="t" l="l"/>
            <a:pathLst>
              <a:path h="7672399" w="6765661">
                <a:moveTo>
                  <a:pt x="0" y="0"/>
                </a:moveTo>
                <a:lnTo>
                  <a:pt x="6765660" y="0"/>
                </a:lnTo>
                <a:lnTo>
                  <a:pt x="6765660" y="7672399"/>
                </a:lnTo>
                <a:lnTo>
                  <a:pt x="0" y="7672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43754" y="1585901"/>
            <a:ext cx="6765661" cy="7672399"/>
          </a:xfrm>
          <a:custGeom>
            <a:avLst/>
            <a:gdLst/>
            <a:ahLst/>
            <a:cxnLst/>
            <a:rect r="r" b="b" t="t" l="l"/>
            <a:pathLst>
              <a:path h="7672399" w="6765661">
                <a:moveTo>
                  <a:pt x="0" y="0"/>
                </a:moveTo>
                <a:lnTo>
                  <a:pt x="6765660" y="0"/>
                </a:lnTo>
                <a:lnTo>
                  <a:pt x="6765660" y="7672399"/>
                </a:lnTo>
                <a:lnTo>
                  <a:pt x="0" y="7672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65251" y="-1543050"/>
            <a:ext cx="4199655" cy="3086100"/>
            <a:chOff x="0" y="0"/>
            <a:chExt cx="1106082" cy="812800"/>
          </a:xfrm>
        </p:grpSpPr>
        <p:sp>
          <p:nvSpPr>
            <p:cNvPr name="Freeform 6" id="6"/>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7" id="7"/>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8" id="8"/>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600950" y="9365373"/>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1" id="11"/>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12" id="12"/>
          <p:cNvSpPr/>
          <p:nvPr/>
        </p:nvSpPr>
        <p:spPr>
          <a:xfrm flipH="false" flipV="false" rot="0">
            <a:off x="-4266984" y="2112846"/>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8"/>
            <a:stretch>
              <a:fillRect l="0" t="0" r="0" b="0"/>
            </a:stretch>
          </a:blipFill>
        </p:spPr>
      </p:sp>
      <p:sp>
        <p:nvSpPr>
          <p:cNvPr name="Freeform 13" id="13"/>
          <p:cNvSpPr/>
          <p:nvPr/>
        </p:nvSpPr>
        <p:spPr>
          <a:xfrm flipH="false" flipV="false" rot="0">
            <a:off x="2727129" y="5531967"/>
            <a:ext cx="3891704" cy="3453002"/>
          </a:xfrm>
          <a:custGeom>
            <a:avLst/>
            <a:gdLst/>
            <a:ahLst/>
            <a:cxnLst/>
            <a:rect r="r" b="b" t="t" l="l"/>
            <a:pathLst>
              <a:path h="3453002" w="3891704">
                <a:moveTo>
                  <a:pt x="0" y="0"/>
                </a:moveTo>
                <a:lnTo>
                  <a:pt x="3891704" y="0"/>
                </a:lnTo>
                <a:lnTo>
                  <a:pt x="3891704" y="3453003"/>
                </a:lnTo>
                <a:lnTo>
                  <a:pt x="0" y="34530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3203256" y="3244694"/>
            <a:ext cx="5246656" cy="65230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MYSQL</a:t>
            </a:r>
          </a:p>
        </p:txBody>
      </p:sp>
      <p:sp>
        <p:nvSpPr>
          <p:cNvPr name="TextBox 15" id="15"/>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6" id="16"/>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2</a:t>
            </a:r>
          </a:p>
        </p:txBody>
      </p:sp>
      <p:sp>
        <p:nvSpPr>
          <p:cNvPr name="Freeform 17" id="17"/>
          <p:cNvSpPr/>
          <p:nvPr/>
        </p:nvSpPr>
        <p:spPr>
          <a:xfrm flipH="false" flipV="false" rot="0">
            <a:off x="17130010" y="5422101"/>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8" id="18"/>
          <p:cNvSpPr txBox="true"/>
          <p:nvPr/>
        </p:nvSpPr>
        <p:spPr>
          <a:xfrm rot="0">
            <a:off x="10155147" y="3167605"/>
            <a:ext cx="5353630" cy="1166619"/>
          </a:xfrm>
          <a:prstGeom prst="rect">
            <a:avLst/>
          </a:prstGeom>
        </p:spPr>
        <p:txBody>
          <a:bodyPr anchor="t" rtlCol="false" tIns="0" lIns="0" bIns="0" rIns="0">
            <a:spAutoFit/>
          </a:bodyPr>
          <a:lstStyle/>
          <a:p>
            <a:pPr algn="just">
              <a:lnSpc>
                <a:spcPts val="1826"/>
              </a:lnSpc>
            </a:pPr>
            <a:r>
              <a:rPr lang="en-US" sz="1739" spc="59">
                <a:solidFill>
                  <a:srgbClr val="FFFFFF"/>
                </a:solidFill>
                <a:latin typeface="Poppins"/>
                <a:ea typeface="Poppins"/>
                <a:cs typeface="Poppins"/>
                <a:sym typeface="Poppins"/>
              </a:rPr>
              <a:t>Es un gestor de bases de datos (RDBMS) usa el lenguaje SQL (Structured Query Language) permite ordenar y consultar datos.</a:t>
            </a:r>
          </a:p>
          <a:p>
            <a:pPr algn="just">
              <a:lnSpc>
                <a:spcPts val="1826"/>
              </a:lnSpc>
              <a:spcBef>
                <a:spcPct val="0"/>
              </a:spcBef>
            </a:pPr>
            <a:r>
              <a:rPr lang="en-US" sz="1739" spc="59">
                <a:solidFill>
                  <a:srgbClr val="FFFFFF"/>
                </a:solidFill>
                <a:latin typeface="Poppins"/>
                <a:ea typeface="Poppins"/>
                <a:cs typeface="Poppins"/>
                <a:sym typeface="Poppins"/>
              </a:rPr>
              <a:t>Es muy usado en aplicativos web, comercio electronico y almacenamiento de datos  </a:t>
            </a:r>
          </a:p>
        </p:txBody>
      </p:sp>
      <p:sp>
        <p:nvSpPr>
          <p:cNvPr name="TextBox 19" id="19"/>
          <p:cNvSpPr txBox="true"/>
          <p:nvPr/>
        </p:nvSpPr>
        <p:spPr>
          <a:xfrm rot="0">
            <a:off x="10155147" y="4450855"/>
            <a:ext cx="5353630" cy="4367019"/>
          </a:xfrm>
          <a:prstGeom prst="rect">
            <a:avLst/>
          </a:prstGeom>
        </p:spPr>
        <p:txBody>
          <a:bodyPr anchor="t" rtlCol="false" tIns="0" lIns="0" bIns="0" rIns="0">
            <a:spAutoFit/>
          </a:bodyPr>
          <a:lstStyle/>
          <a:p>
            <a:pPr algn="l" marL="375627" indent="-187814" lvl="1">
              <a:lnSpc>
                <a:spcPts val="1826"/>
              </a:lnSpc>
              <a:buFont typeface="Arial"/>
              <a:buChar char="•"/>
            </a:pPr>
            <a:r>
              <a:rPr lang="en-US" b="true" sz="1739" spc="59">
                <a:solidFill>
                  <a:srgbClr val="FFFFFF"/>
                </a:solidFill>
                <a:latin typeface="Poppins Semi-Bold"/>
                <a:ea typeface="Poppins Semi-Bold"/>
                <a:cs typeface="Poppins Semi-Bold"/>
                <a:sym typeface="Poppins Semi-Bold"/>
              </a:rPr>
              <a:t>Relacional:</a:t>
            </a:r>
            <a:r>
              <a:rPr lang="en-US" sz="1739" spc="59">
                <a:solidFill>
                  <a:srgbClr val="FFFFFF"/>
                </a:solidFill>
                <a:latin typeface="Poppins"/>
                <a:ea typeface="Poppins"/>
                <a:cs typeface="Poppins"/>
                <a:sym typeface="Poppins"/>
              </a:rPr>
              <a:t> Organiza la información en tablas conectadas entre sí (filas y columnas).</a:t>
            </a:r>
          </a:p>
          <a:p>
            <a:pPr algn="l" marL="375627" indent="-187814" lvl="1">
              <a:lnSpc>
                <a:spcPts val="1826"/>
              </a:lnSpc>
              <a:buFont typeface="Arial"/>
              <a:buChar char="•"/>
            </a:pPr>
            <a:r>
              <a:rPr lang="en-US" b="true" sz="1739" spc="59">
                <a:solidFill>
                  <a:srgbClr val="FFFFFF"/>
                </a:solidFill>
                <a:latin typeface="Poppins Semi-Bold"/>
                <a:ea typeface="Poppins Semi-Bold"/>
                <a:cs typeface="Poppins Semi-Bold"/>
                <a:sym typeface="Poppins Semi-Bold"/>
              </a:rPr>
              <a:t>Código Abierto:</a:t>
            </a:r>
            <a:r>
              <a:rPr lang="en-US" sz="1739" spc="59">
                <a:solidFill>
                  <a:srgbClr val="FFFFFF"/>
                </a:solidFill>
                <a:latin typeface="Poppins"/>
                <a:ea typeface="Poppins"/>
                <a:cs typeface="Poppins"/>
                <a:sym typeface="Poppins"/>
              </a:rPr>
              <a:t> Es gratuito para la mayoría de los usos, con soporte de la comunidad y opciones comerciales a cargo de Oracle.</a:t>
            </a:r>
          </a:p>
          <a:p>
            <a:pPr algn="l" marL="375627" indent="-187814" lvl="1">
              <a:lnSpc>
                <a:spcPts val="1826"/>
              </a:lnSpc>
              <a:buFont typeface="Arial"/>
              <a:buChar char="•"/>
            </a:pPr>
            <a:r>
              <a:rPr lang="en-US" b="true" sz="1739" spc="59">
                <a:solidFill>
                  <a:srgbClr val="FFFFFF"/>
                </a:solidFill>
                <a:latin typeface="Poppins Semi-Bold"/>
                <a:ea typeface="Poppins Semi-Bold"/>
                <a:cs typeface="Poppins Semi-Bold"/>
                <a:sym typeface="Poppins Semi-Bold"/>
              </a:rPr>
              <a:t>Rendimiento y Seguridad:</a:t>
            </a:r>
            <a:r>
              <a:rPr lang="en-US" sz="1739" spc="59">
                <a:solidFill>
                  <a:srgbClr val="FFFFFF"/>
                </a:solidFill>
                <a:latin typeface="Poppins"/>
                <a:ea typeface="Poppins"/>
                <a:cs typeface="Poppins"/>
                <a:sym typeface="Poppins"/>
              </a:rPr>
              <a:t> Ofrece gran velocidad, fiabilidad y robustez en la gestión de datos.</a:t>
            </a:r>
          </a:p>
          <a:p>
            <a:pPr algn="l" marL="375627" indent="-187814" lvl="1">
              <a:lnSpc>
                <a:spcPts val="1826"/>
              </a:lnSpc>
              <a:buFont typeface="Arial"/>
              <a:buChar char="•"/>
            </a:pPr>
            <a:r>
              <a:rPr lang="en-US" b="true" sz="1739" spc="59">
                <a:solidFill>
                  <a:srgbClr val="FFFFFF"/>
                </a:solidFill>
                <a:latin typeface="Poppins Semi-Bold"/>
                <a:ea typeface="Poppins Semi-Bold"/>
                <a:cs typeface="Poppins Semi-Bold"/>
                <a:sym typeface="Poppins Semi-Bold"/>
              </a:rPr>
              <a:t>Uso Web:</a:t>
            </a:r>
            <a:r>
              <a:rPr lang="en-US" sz="1739" spc="59">
                <a:solidFill>
                  <a:srgbClr val="FFFFFF"/>
                </a:solidFill>
                <a:latin typeface="Poppins"/>
                <a:ea typeface="Poppins"/>
                <a:cs typeface="Poppins"/>
                <a:sym typeface="Poppins"/>
              </a:rPr>
              <a:t> Es el componente de base de datos estándar en aplicaciones web y redes sociales como Facebook, Twitter y YouTube.</a:t>
            </a:r>
          </a:p>
          <a:p>
            <a:pPr algn="l" marL="375627" indent="-187814" lvl="1">
              <a:lnSpc>
                <a:spcPts val="1826"/>
              </a:lnSpc>
              <a:buFont typeface="Arial"/>
              <a:buChar char="•"/>
            </a:pPr>
            <a:r>
              <a:rPr lang="en-US" b="true" sz="1739" spc="59">
                <a:solidFill>
                  <a:srgbClr val="FFFFFF"/>
                </a:solidFill>
                <a:latin typeface="Poppins Semi-Bold"/>
                <a:ea typeface="Poppins Semi-Bold"/>
                <a:cs typeface="Poppins Semi-Bold"/>
                <a:sym typeface="Poppins Semi-Bold"/>
              </a:rPr>
              <a:t>Arquitectura Cliente-Servidor:</a:t>
            </a:r>
            <a:r>
              <a:rPr lang="en-US" sz="1739" spc="59">
                <a:solidFill>
                  <a:srgbClr val="FFFFFF"/>
                </a:solidFill>
                <a:latin typeface="Poppins"/>
                <a:ea typeface="Poppins"/>
                <a:cs typeface="Poppins"/>
                <a:sym typeface="Poppins"/>
              </a:rPr>
              <a:t> El servidor gestiona los datos, y los programas cliente (como sitios web) realizan consultas para interactuar con ellos.</a:t>
            </a:r>
          </a:p>
          <a:p>
            <a:pPr algn="l">
              <a:lnSpc>
                <a:spcPts val="182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00950" y="9365373"/>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8" id="8"/>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9" id="9"/>
          <p:cNvSpPr/>
          <p:nvPr/>
        </p:nvSpPr>
        <p:spPr>
          <a:xfrm flipH="false" flipV="false" rot="0">
            <a:off x="9511861" y="1543050"/>
            <a:ext cx="8776139" cy="9617687"/>
          </a:xfrm>
          <a:custGeom>
            <a:avLst/>
            <a:gdLst/>
            <a:ahLst/>
            <a:cxnLst/>
            <a:rect r="r" b="b" t="t" l="l"/>
            <a:pathLst>
              <a:path h="9617687" w="8776139">
                <a:moveTo>
                  <a:pt x="0" y="0"/>
                </a:moveTo>
                <a:lnTo>
                  <a:pt x="8776139" y="0"/>
                </a:lnTo>
                <a:lnTo>
                  <a:pt x="8776139" y="9617687"/>
                </a:lnTo>
                <a:lnTo>
                  <a:pt x="0" y="96176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1955865" y="837130"/>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6"/>
            <a:stretch>
              <a:fillRect l="0" t="0" r="0" b="0"/>
            </a:stretch>
          </a:blipFill>
        </p:spPr>
      </p:sp>
      <p:sp>
        <p:nvSpPr>
          <p:cNvPr name="Freeform 11" id="11"/>
          <p:cNvSpPr/>
          <p:nvPr/>
        </p:nvSpPr>
        <p:spPr>
          <a:xfrm flipH="false" flipV="false" rot="0">
            <a:off x="8368259" y="2636395"/>
            <a:ext cx="4637582" cy="4114800"/>
          </a:xfrm>
          <a:custGeom>
            <a:avLst/>
            <a:gdLst/>
            <a:ahLst/>
            <a:cxnLst/>
            <a:rect r="r" b="b" t="t" l="l"/>
            <a:pathLst>
              <a:path h="4114800" w="4637582">
                <a:moveTo>
                  <a:pt x="0" y="0"/>
                </a:moveTo>
                <a:lnTo>
                  <a:pt x="4637582" y="0"/>
                </a:lnTo>
                <a:lnTo>
                  <a:pt x="463758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3" id="13"/>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3</a:t>
            </a:r>
          </a:p>
        </p:txBody>
      </p:sp>
      <p:sp>
        <p:nvSpPr>
          <p:cNvPr name="TextBox 14" id="14"/>
          <p:cNvSpPr txBox="true"/>
          <p:nvPr/>
        </p:nvSpPr>
        <p:spPr>
          <a:xfrm rot="0">
            <a:off x="1577269" y="1984092"/>
            <a:ext cx="5867677" cy="65230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QUE ES ? </a:t>
            </a:r>
          </a:p>
        </p:txBody>
      </p:sp>
      <p:sp>
        <p:nvSpPr>
          <p:cNvPr name="Freeform 15" id="15"/>
          <p:cNvSpPr/>
          <p:nvPr/>
        </p:nvSpPr>
        <p:spPr>
          <a:xfrm flipH="false" flipV="false" rot="0">
            <a:off x="1440055" y="930446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224982" y="2645920"/>
            <a:ext cx="6572250" cy="6653019"/>
          </a:xfrm>
          <a:prstGeom prst="rect">
            <a:avLst/>
          </a:prstGeom>
        </p:spPr>
        <p:txBody>
          <a:bodyPr anchor="t" rtlCol="false" tIns="0" lIns="0" bIns="0" rIns="0">
            <a:spAutoFit/>
          </a:bodyPr>
          <a:lstStyle/>
          <a:p>
            <a:pPr algn="just">
              <a:lnSpc>
                <a:spcPts val="1826"/>
              </a:lnSpc>
            </a:pPr>
            <a:r>
              <a:rPr lang="en-US" sz="1739" spc="59">
                <a:solidFill>
                  <a:srgbClr val="FFFFFF"/>
                </a:solidFill>
                <a:latin typeface="Poppins"/>
                <a:ea typeface="Poppins"/>
                <a:cs typeface="Poppins"/>
                <a:sym typeface="Poppins"/>
              </a:rPr>
              <a:t>Es un sistema gestor de base de datos relacional  de codigo abierto </a:t>
            </a:r>
          </a:p>
          <a:p>
            <a:pPr algn="just">
              <a:lnSpc>
                <a:spcPts val="1826"/>
              </a:lnSpc>
            </a:pPr>
            <a:r>
              <a:rPr lang="en-US" sz="1739" spc="59">
                <a:solidFill>
                  <a:srgbClr val="FFFFFF"/>
                </a:solidFill>
                <a:latin typeface="Poppins"/>
                <a:ea typeface="Poppins"/>
                <a:cs typeface="Poppins"/>
                <a:sym typeface="Poppins"/>
              </a:rPr>
              <a:t> lo que significa que cualquier persona la puede utilizar cuando la necesite   y  como gestor relacional permire relacionar una tablas con otras </a:t>
            </a:r>
          </a:p>
          <a:p>
            <a:pPr algn="just">
              <a:lnSpc>
                <a:spcPts val="1826"/>
              </a:lnSpc>
            </a:pPr>
          </a:p>
          <a:p>
            <a:pPr algn="just">
              <a:lnSpc>
                <a:spcPts val="1826"/>
              </a:lnSpc>
            </a:pPr>
            <a:r>
              <a:rPr lang="en-US" b="true" sz="1739" spc="59">
                <a:solidFill>
                  <a:srgbClr val="FFFFFF"/>
                </a:solidFill>
                <a:latin typeface="Poppins Bold"/>
                <a:ea typeface="Poppins Bold"/>
                <a:cs typeface="Poppins Bold"/>
                <a:sym typeface="Poppins Bold"/>
              </a:rPr>
              <a:t> </a:t>
            </a:r>
          </a:p>
          <a:p>
            <a:pPr algn="just">
              <a:lnSpc>
                <a:spcPts val="1826"/>
              </a:lnSpc>
            </a:pPr>
          </a:p>
          <a:p>
            <a:pPr algn="just">
              <a:lnSpc>
                <a:spcPts val="1826"/>
              </a:lnSpc>
            </a:pPr>
            <a:r>
              <a:rPr lang="en-US" b="true" sz="1739" spc="59">
                <a:solidFill>
                  <a:srgbClr val="FFFFFF"/>
                </a:solidFill>
                <a:latin typeface="Poppins Bold"/>
                <a:ea typeface="Poppins Bold"/>
                <a:cs typeface="Poppins Bold"/>
                <a:sym typeface="Poppins Bold"/>
              </a:rPr>
              <a:t>ORINTEADA A OBJETOS </a:t>
            </a:r>
          </a:p>
          <a:p>
            <a:pPr algn="just">
              <a:lnSpc>
                <a:spcPts val="1826"/>
              </a:lnSpc>
            </a:pPr>
            <a:r>
              <a:rPr lang="en-US" b="true" sz="1739" spc="59">
                <a:solidFill>
                  <a:srgbClr val="FFFFFF"/>
                </a:solidFill>
                <a:latin typeface="Poppins Bold"/>
                <a:ea typeface="Poppins Bold"/>
                <a:cs typeface="Poppins Bold"/>
                <a:sym typeface="Poppins Bold"/>
              </a:rPr>
              <a:t> </a:t>
            </a:r>
          </a:p>
          <a:p>
            <a:pPr algn="just">
              <a:lnSpc>
                <a:spcPts val="1826"/>
              </a:lnSpc>
            </a:pPr>
            <a:r>
              <a:rPr lang="en-US" sz="1739" spc="59">
                <a:solidFill>
                  <a:srgbClr val="FFFFFF"/>
                </a:solidFill>
                <a:latin typeface="Poppins"/>
                <a:ea typeface="Poppins"/>
                <a:cs typeface="Poppins"/>
                <a:sym typeface="Poppins"/>
              </a:rPr>
              <a:t>esto significa que  la informacion no se guarda en simples tablas  si no en  si no en  formatos </a:t>
            </a:r>
          </a:p>
          <a:p>
            <a:pPr algn="just">
              <a:lnSpc>
                <a:spcPts val="1826"/>
              </a:lnSpc>
            </a:pPr>
          </a:p>
          <a:p>
            <a:pPr algn="just">
              <a:lnSpc>
                <a:spcPts val="1826"/>
              </a:lnSpc>
            </a:pPr>
          </a:p>
          <a:p>
            <a:pPr algn="just">
              <a:lnSpc>
                <a:spcPts val="1826"/>
              </a:lnSpc>
            </a:pPr>
            <a:r>
              <a:rPr lang="en-US" sz="1739" spc="59">
                <a:solidFill>
                  <a:srgbClr val="FFFFFF"/>
                </a:solidFill>
                <a:latin typeface="Poppins"/>
                <a:ea typeface="Poppins"/>
                <a:cs typeface="Poppins"/>
                <a:sym typeface="Poppins"/>
              </a:rPr>
              <a:t>puede almacenar objetos complejo como atributos y    metodos  de una  entidad  </a:t>
            </a:r>
          </a:p>
          <a:p>
            <a:pPr algn="just">
              <a:lnSpc>
                <a:spcPts val="1826"/>
              </a:lnSpc>
            </a:pPr>
          </a:p>
          <a:p>
            <a:pPr algn="just">
              <a:lnSpc>
                <a:spcPts val="1826"/>
              </a:lnSpc>
            </a:pPr>
            <a:r>
              <a:rPr lang="en-US" sz="1739" spc="59">
                <a:solidFill>
                  <a:srgbClr val="FFFFFF"/>
                </a:solidFill>
                <a:latin typeface="Poppins"/>
                <a:ea typeface="Poppins"/>
                <a:cs typeface="Poppins"/>
                <a:sym typeface="Poppins"/>
              </a:rPr>
              <a:t>puede manejar texto , imagenes  , sonido  y video </a:t>
            </a:r>
          </a:p>
          <a:p>
            <a:pPr algn="just">
              <a:lnSpc>
                <a:spcPts val="1826"/>
              </a:lnSpc>
            </a:pPr>
          </a:p>
          <a:p>
            <a:pPr algn="just">
              <a:lnSpc>
                <a:spcPts val="1826"/>
              </a:lnSpc>
            </a:pPr>
            <a:r>
              <a:rPr lang="en-US" b="true" sz="1739" spc="59">
                <a:solidFill>
                  <a:srgbClr val="FFFFFF"/>
                </a:solidFill>
                <a:latin typeface="Poppins Bold"/>
                <a:ea typeface="Poppins Bold"/>
                <a:cs typeface="Poppins Bold"/>
                <a:sym typeface="Poppins Bold"/>
              </a:rPr>
              <a:t>Multisistema </a:t>
            </a:r>
          </a:p>
          <a:p>
            <a:pPr algn="just">
              <a:lnSpc>
                <a:spcPts val="1826"/>
              </a:lnSpc>
            </a:pPr>
          </a:p>
          <a:p>
            <a:pPr algn="just">
              <a:lnSpc>
                <a:spcPts val="1826"/>
              </a:lnSpc>
            </a:pPr>
          </a:p>
          <a:p>
            <a:pPr algn="just">
              <a:lnSpc>
                <a:spcPts val="1826"/>
              </a:lnSpc>
            </a:pPr>
            <a:r>
              <a:rPr lang="en-US" sz="1739" spc="59">
                <a:solidFill>
                  <a:srgbClr val="FFFFFF"/>
                </a:solidFill>
                <a:latin typeface="Poppins"/>
                <a:ea typeface="Poppins"/>
                <a:cs typeface="Poppins"/>
                <a:sym typeface="Poppins"/>
              </a:rPr>
              <a:t>este gestor tambien es multisistema lo que significa </a:t>
            </a:r>
          </a:p>
          <a:p>
            <a:pPr algn="just">
              <a:lnSpc>
                <a:spcPts val="1826"/>
              </a:lnSpc>
            </a:pPr>
          </a:p>
          <a:p>
            <a:pPr algn="just">
              <a:lnSpc>
                <a:spcPts val="1826"/>
              </a:lnSpc>
            </a:pPr>
          </a:p>
          <a:p>
            <a:pPr algn="just">
              <a:lnSpc>
                <a:spcPts val="1826"/>
              </a:lnSpc>
            </a:pPr>
            <a:r>
              <a:rPr lang="en-US" b="true" sz="1739" spc="59">
                <a:solidFill>
                  <a:srgbClr val="FFFFFF"/>
                </a:solidFill>
                <a:latin typeface="Poppins Bold"/>
                <a:ea typeface="Poppins Bold"/>
                <a:cs typeface="Poppins Bold"/>
                <a:sym typeface="Poppins Bold"/>
              </a:rPr>
              <a:t> </a:t>
            </a:r>
          </a:p>
          <a:p>
            <a:pPr algn="just">
              <a:lnSpc>
                <a:spcPts val="1826"/>
              </a:lnSpc>
            </a:pPr>
          </a:p>
          <a:p>
            <a:pPr algn="just">
              <a:lnSpc>
                <a:spcPts val="1826"/>
              </a:lnSpc>
            </a:pPr>
          </a:p>
          <a:p>
            <a:pPr algn="just">
              <a:lnSpc>
                <a:spcPts val="1826"/>
              </a:lnSpc>
              <a:spcBef>
                <a:spcPct val="0"/>
              </a:spcBef>
            </a:pPr>
          </a:p>
        </p:txBody>
      </p:sp>
      <p:sp>
        <p:nvSpPr>
          <p:cNvPr name="TextBox 17" id="17"/>
          <p:cNvSpPr txBox="true"/>
          <p:nvPr/>
        </p:nvSpPr>
        <p:spPr>
          <a:xfrm rot="0">
            <a:off x="6737075" y="488006"/>
            <a:ext cx="5867677" cy="128095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POTGRES SQL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00950" y="9365373"/>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8" id="8"/>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9" id="9"/>
          <p:cNvSpPr/>
          <p:nvPr/>
        </p:nvSpPr>
        <p:spPr>
          <a:xfrm flipH="false" flipV="false" rot="0">
            <a:off x="9511861" y="1543050"/>
            <a:ext cx="8776139" cy="9617687"/>
          </a:xfrm>
          <a:custGeom>
            <a:avLst/>
            <a:gdLst/>
            <a:ahLst/>
            <a:cxnLst/>
            <a:rect r="r" b="b" t="t" l="l"/>
            <a:pathLst>
              <a:path h="9617687" w="8776139">
                <a:moveTo>
                  <a:pt x="0" y="0"/>
                </a:moveTo>
                <a:lnTo>
                  <a:pt x="8776139" y="0"/>
                </a:lnTo>
                <a:lnTo>
                  <a:pt x="8776139" y="9617687"/>
                </a:lnTo>
                <a:lnTo>
                  <a:pt x="0" y="96176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1955865" y="837130"/>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6"/>
            <a:stretch>
              <a:fillRect l="0" t="0" r="0" b="0"/>
            </a:stretch>
          </a:blipFill>
        </p:spPr>
      </p:sp>
      <p:sp>
        <p:nvSpPr>
          <p:cNvPr name="Freeform 11" id="11"/>
          <p:cNvSpPr/>
          <p:nvPr/>
        </p:nvSpPr>
        <p:spPr>
          <a:xfrm flipH="false" flipV="false" rot="0">
            <a:off x="8368259" y="2636395"/>
            <a:ext cx="4637582" cy="4114800"/>
          </a:xfrm>
          <a:custGeom>
            <a:avLst/>
            <a:gdLst/>
            <a:ahLst/>
            <a:cxnLst/>
            <a:rect r="r" b="b" t="t" l="l"/>
            <a:pathLst>
              <a:path h="4114800" w="4637582">
                <a:moveTo>
                  <a:pt x="0" y="0"/>
                </a:moveTo>
                <a:lnTo>
                  <a:pt x="4637582" y="0"/>
                </a:lnTo>
                <a:lnTo>
                  <a:pt x="4637582"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3" id="13"/>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4</a:t>
            </a:r>
          </a:p>
        </p:txBody>
      </p:sp>
      <p:sp>
        <p:nvSpPr>
          <p:cNvPr name="TextBox 14" id="14"/>
          <p:cNvSpPr txBox="true"/>
          <p:nvPr/>
        </p:nvSpPr>
        <p:spPr>
          <a:xfrm rot="0">
            <a:off x="1577269" y="3017347"/>
            <a:ext cx="5867677" cy="128095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PARA QUE SE USA ? </a:t>
            </a:r>
          </a:p>
        </p:txBody>
      </p:sp>
      <p:sp>
        <p:nvSpPr>
          <p:cNvPr name="Freeform 15" id="15"/>
          <p:cNvSpPr/>
          <p:nvPr/>
        </p:nvSpPr>
        <p:spPr>
          <a:xfrm flipH="false" flipV="false" rot="0">
            <a:off x="1440055" y="9304465"/>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371698" y="4500965"/>
            <a:ext cx="6572250" cy="20810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L</a:t>
            </a:r>
            <a:r>
              <a:rPr lang="en-US" sz="1739" spc="59">
                <a:solidFill>
                  <a:srgbClr val="FFFFFF"/>
                </a:solidFill>
                <a:latin typeface="Poppins"/>
                <a:ea typeface="Poppins"/>
                <a:cs typeface="Poppins"/>
                <a:sym typeface="Poppins"/>
              </a:rPr>
              <a:t>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17" id="17"/>
          <p:cNvSpPr txBox="true"/>
          <p:nvPr/>
        </p:nvSpPr>
        <p:spPr>
          <a:xfrm rot="0">
            <a:off x="6737075" y="488006"/>
            <a:ext cx="5867677" cy="128095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POTGRES SQL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1951130"/>
            <a:ext cx="12571225" cy="11291245"/>
          </a:xfrm>
          <a:custGeom>
            <a:avLst/>
            <a:gdLst/>
            <a:ahLst/>
            <a:cxnLst/>
            <a:rect r="r" b="b" t="t" l="l"/>
            <a:pathLst>
              <a:path h="11291245" w="12571225">
                <a:moveTo>
                  <a:pt x="0" y="0"/>
                </a:moveTo>
                <a:lnTo>
                  <a:pt x="12571225" y="0"/>
                </a:lnTo>
                <a:lnTo>
                  <a:pt x="12571225" y="11291246"/>
                </a:lnTo>
                <a:lnTo>
                  <a:pt x="0" y="112912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7600950" y="9365373"/>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9" id="9"/>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10" id="10"/>
          <p:cNvSpPr/>
          <p:nvPr/>
        </p:nvSpPr>
        <p:spPr>
          <a:xfrm flipH="false" flipV="false" rot="0">
            <a:off x="8821176" y="3993306"/>
            <a:ext cx="1491521" cy="1491521"/>
          </a:xfrm>
          <a:custGeom>
            <a:avLst/>
            <a:gdLst/>
            <a:ahLst/>
            <a:cxnLst/>
            <a:rect r="r" b="b" t="t" l="l"/>
            <a:pathLst>
              <a:path h="1491521" w="1491521">
                <a:moveTo>
                  <a:pt x="0" y="0"/>
                </a:moveTo>
                <a:lnTo>
                  <a:pt x="1491521" y="0"/>
                </a:lnTo>
                <a:lnTo>
                  <a:pt x="1491521" y="1491521"/>
                </a:lnTo>
                <a:lnTo>
                  <a:pt x="0" y="14915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984659" y="653111"/>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4238100" y="1879995"/>
            <a:ext cx="4607176" cy="5421018"/>
          </a:xfrm>
          <a:custGeom>
            <a:avLst/>
            <a:gdLst/>
            <a:ahLst/>
            <a:cxnLst/>
            <a:rect r="r" b="b" t="t" l="l"/>
            <a:pathLst>
              <a:path h="5421018" w="4607176">
                <a:moveTo>
                  <a:pt x="0" y="0"/>
                </a:moveTo>
                <a:lnTo>
                  <a:pt x="4607175" y="0"/>
                </a:lnTo>
                <a:lnTo>
                  <a:pt x="4607175" y="5421018"/>
                </a:lnTo>
                <a:lnTo>
                  <a:pt x="0" y="5421018"/>
                </a:lnTo>
                <a:lnTo>
                  <a:pt x="0" y="0"/>
                </a:lnTo>
                <a:close/>
              </a:path>
            </a:pathLst>
          </a:custGeom>
          <a:blipFill>
            <a:blip r:embed="rId10"/>
            <a:stretch>
              <a:fillRect l="0" t="0" r="0" b="0"/>
            </a:stretch>
          </a:blipFill>
        </p:spPr>
      </p:sp>
      <p:sp>
        <p:nvSpPr>
          <p:cNvPr name="Freeform 13" id="13"/>
          <p:cNvSpPr/>
          <p:nvPr/>
        </p:nvSpPr>
        <p:spPr>
          <a:xfrm flipH="false" flipV="false" rot="0">
            <a:off x="12955069" y="3257416"/>
            <a:ext cx="5873365" cy="6000884"/>
          </a:xfrm>
          <a:custGeom>
            <a:avLst/>
            <a:gdLst/>
            <a:ahLst/>
            <a:cxnLst/>
            <a:rect r="r" b="b" t="t" l="l"/>
            <a:pathLst>
              <a:path h="6000884" w="5873365">
                <a:moveTo>
                  <a:pt x="0" y="0"/>
                </a:moveTo>
                <a:lnTo>
                  <a:pt x="5873365" y="0"/>
                </a:lnTo>
                <a:lnTo>
                  <a:pt x="5873365" y="6000884"/>
                </a:lnTo>
                <a:lnTo>
                  <a:pt x="0" y="60008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5" id="15"/>
          <p:cNvSpPr txBox="true"/>
          <p:nvPr/>
        </p:nvSpPr>
        <p:spPr>
          <a:xfrm rot="0">
            <a:off x="8301534"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5</a:t>
            </a:r>
          </a:p>
        </p:txBody>
      </p:sp>
      <p:sp>
        <p:nvSpPr>
          <p:cNvPr name="TextBox 16" id="16"/>
          <p:cNvSpPr txBox="true"/>
          <p:nvPr/>
        </p:nvSpPr>
        <p:spPr>
          <a:xfrm rot="0">
            <a:off x="1887779" y="4255309"/>
            <a:ext cx="5246656" cy="1229518"/>
          </a:xfrm>
          <a:prstGeom prst="rect">
            <a:avLst/>
          </a:prstGeom>
        </p:spPr>
        <p:txBody>
          <a:bodyPr anchor="t" rtlCol="false" tIns="0" lIns="0" bIns="0" rIns="0">
            <a:spAutoFit/>
          </a:bodyPr>
          <a:lstStyle/>
          <a:p>
            <a:pPr algn="l">
              <a:lnSpc>
                <a:spcPts val="4768"/>
              </a:lnSpc>
            </a:pPr>
            <a:r>
              <a:rPr lang="en-US" sz="4541" b="true">
                <a:solidFill>
                  <a:srgbClr val="FFFFFF"/>
                </a:solidFill>
                <a:latin typeface="TT Lakes Neue Expanded Bold"/>
                <a:ea typeface="TT Lakes Neue Expanded Bold"/>
                <a:cs typeface="TT Lakes Neue Expanded Bold"/>
                <a:sym typeface="TT Lakes Neue Expanded Bold"/>
              </a:rPr>
              <a:t>MICROSOFT SQL SERVER</a:t>
            </a:r>
          </a:p>
        </p:txBody>
      </p:sp>
      <p:sp>
        <p:nvSpPr>
          <p:cNvPr name="TextBox 17" id="17"/>
          <p:cNvSpPr txBox="true"/>
          <p:nvPr/>
        </p:nvSpPr>
        <p:spPr>
          <a:xfrm rot="0">
            <a:off x="1887779" y="5617600"/>
            <a:ext cx="5073234" cy="4367019"/>
          </a:xfrm>
          <a:prstGeom prst="rect">
            <a:avLst/>
          </a:prstGeom>
        </p:spPr>
        <p:txBody>
          <a:bodyPr anchor="t" rtlCol="false" tIns="0" lIns="0" bIns="0" rIns="0">
            <a:spAutoFit/>
          </a:bodyPr>
          <a:lstStyle/>
          <a:p>
            <a:pPr algn="just">
              <a:lnSpc>
                <a:spcPts val="1826"/>
              </a:lnSpc>
            </a:pPr>
            <a:r>
              <a:rPr lang="en-US" sz="1739" spc="59">
                <a:solidFill>
                  <a:srgbClr val="FFFFFF"/>
                </a:solidFill>
                <a:latin typeface="Poppins"/>
                <a:ea typeface="Poppins"/>
                <a:cs typeface="Poppins"/>
                <a:sym typeface="Poppins"/>
              </a:rPr>
              <a:t>Sistema gestion de bases de datos es creado por maicrosoft diseñado para: almacenar, gestionar y recuperar datos de manera eficiente.</a:t>
            </a:r>
          </a:p>
          <a:p>
            <a:pPr algn="just">
              <a:lnSpc>
                <a:spcPts val="1826"/>
              </a:lnSpc>
            </a:pPr>
          </a:p>
          <a:p>
            <a:pPr algn="just">
              <a:lnSpc>
                <a:spcPts val="1826"/>
              </a:lnSpc>
            </a:pPr>
            <a:r>
              <a:rPr lang="en-US" sz="1739" spc="59">
                <a:solidFill>
                  <a:srgbClr val="FFFFFF"/>
                </a:solidFill>
                <a:latin typeface="Poppins"/>
                <a:ea typeface="Poppins"/>
                <a:cs typeface="Poppins"/>
                <a:sym typeface="Poppins"/>
              </a:rPr>
              <a:t>Esta basado en el lenguaje Transact-SQL (T-SQL) y se usa para aplicaciones empresariales, inteligencia de negocios y analisis de datos.</a:t>
            </a:r>
          </a:p>
          <a:p>
            <a:pPr algn="just">
              <a:lnSpc>
                <a:spcPts val="1826"/>
              </a:lnSpc>
            </a:pPr>
          </a:p>
          <a:p>
            <a:pPr algn="just">
              <a:lnSpc>
                <a:spcPts val="1826"/>
              </a:lnSpc>
            </a:pPr>
            <a:r>
              <a:rPr lang="en-US" sz="1739" spc="59">
                <a:solidFill>
                  <a:srgbClr val="FFFFFF"/>
                </a:solidFill>
                <a:latin typeface="Poppins"/>
                <a:ea typeface="Poppins"/>
                <a:cs typeface="Poppins"/>
                <a:sym typeface="Poppins"/>
              </a:rPr>
              <a:t>Sus ediciones son:</a:t>
            </a:r>
          </a:p>
          <a:p>
            <a:pPr algn="just">
              <a:lnSpc>
                <a:spcPts val="1826"/>
              </a:lnSpc>
            </a:pPr>
          </a:p>
          <a:p>
            <a:pPr algn="l" marL="375627" indent="-187814" lvl="1">
              <a:lnSpc>
                <a:spcPts val="1826"/>
              </a:lnSpc>
              <a:buFont typeface="Arial"/>
              <a:buChar char="•"/>
            </a:pPr>
            <a:r>
              <a:rPr lang="en-US" sz="1739" spc="59">
                <a:solidFill>
                  <a:srgbClr val="FFFFFF"/>
                </a:solidFill>
                <a:latin typeface="Poppins"/>
                <a:ea typeface="Poppins"/>
                <a:cs typeface="Poppins"/>
                <a:sym typeface="Poppins"/>
              </a:rPr>
              <a:t>Enterprise se usa para aplicaciones criticas de alto rendimiento</a:t>
            </a:r>
          </a:p>
          <a:p>
            <a:pPr algn="l" marL="375627" indent="-187814" lvl="1">
              <a:lnSpc>
                <a:spcPts val="1826"/>
              </a:lnSpc>
              <a:buFont typeface="Arial"/>
              <a:buChar char="•"/>
            </a:pPr>
            <a:r>
              <a:rPr lang="en-US" sz="1739" spc="59">
                <a:solidFill>
                  <a:srgbClr val="FFFFFF"/>
                </a:solidFill>
                <a:latin typeface="Poppins"/>
                <a:ea typeface="Poppins"/>
                <a:cs typeface="Poppins"/>
                <a:sym typeface="Poppins"/>
              </a:rPr>
              <a:t>Standard esta se usa para administracion basica y empresas pequeñas </a:t>
            </a:r>
          </a:p>
          <a:p>
            <a:pPr algn="l" marL="375627" indent="-187814" lvl="1">
              <a:lnSpc>
                <a:spcPts val="1826"/>
              </a:lnSpc>
              <a:buFont typeface="Arial"/>
              <a:buChar char="•"/>
            </a:pPr>
            <a:r>
              <a:rPr lang="en-US" sz="1739" spc="59">
                <a:solidFill>
                  <a:srgbClr val="FFFFFF"/>
                </a:solidFill>
                <a:latin typeface="Poppins"/>
                <a:ea typeface="Poppins"/>
                <a:cs typeface="Poppins"/>
                <a:sym typeface="Poppins"/>
              </a:rPr>
              <a:t>Express/Developer se usa para aprendizaje y desarrollo basico</a:t>
            </a:r>
          </a:p>
        </p:txBody>
      </p:sp>
      <p:sp>
        <p:nvSpPr>
          <p:cNvPr name="TextBox 18" id="18"/>
          <p:cNvSpPr txBox="true"/>
          <p:nvPr/>
        </p:nvSpPr>
        <p:spPr>
          <a:xfrm rot="0">
            <a:off x="7314312" y="5617600"/>
            <a:ext cx="5073234" cy="3909819"/>
          </a:xfrm>
          <a:prstGeom prst="rect">
            <a:avLst/>
          </a:prstGeom>
        </p:spPr>
        <p:txBody>
          <a:bodyPr anchor="t" rtlCol="false" tIns="0" lIns="0" bIns="0" rIns="0">
            <a:spAutoFit/>
          </a:bodyPr>
          <a:lstStyle/>
          <a:p>
            <a:pPr algn="ctr">
              <a:lnSpc>
                <a:spcPts val="1826"/>
              </a:lnSpc>
            </a:pPr>
            <a:r>
              <a:rPr lang="en-US" sz="1739" spc="59">
                <a:solidFill>
                  <a:srgbClr val="FFFFFF"/>
                </a:solidFill>
                <a:latin typeface="Poppins"/>
                <a:ea typeface="Poppins"/>
                <a:cs typeface="Poppins"/>
                <a:sym typeface="Poppins"/>
              </a:rPr>
              <a:t>     Características</a:t>
            </a:r>
          </a:p>
          <a:p>
            <a:pPr algn="l">
              <a:lnSpc>
                <a:spcPts val="1826"/>
              </a:lnSpc>
            </a:pPr>
            <a:r>
              <a:rPr lang="en-US" sz="1739" spc="59">
                <a:solidFill>
                  <a:srgbClr val="FFFFFF"/>
                </a:solidFill>
                <a:latin typeface="Poppins"/>
                <a:ea typeface="Poppins"/>
                <a:cs typeface="Poppins"/>
                <a:sym typeface="Poppins"/>
              </a:rPr>
              <a:t>  </a:t>
            </a:r>
          </a:p>
          <a:p>
            <a:pPr algn="l" marL="375627" indent="-187814" lvl="1">
              <a:lnSpc>
                <a:spcPts val="1826"/>
              </a:lnSpc>
              <a:spcBef>
                <a:spcPct val="0"/>
              </a:spcBef>
              <a:buFont typeface="Arial"/>
              <a:buChar char="•"/>
            </a:pPr>
            <a:r>
              <a:rPr lang="en-US" sz="1739" spc="59">
                <a:solidFill>
                  <a:srgbClr val="FFFFFF"/>
                </a:solidFill>
                <a:latin typeface="Poppins"/>
                <a:ea typeface="Poppins"/>
                <a:cs typeface="Poppins"/>
                <a:sym typeface="Poppins"/>
              </a:rPr>
              <a:t>G</a:t>
            </a:r>
            <a:r>
              <a:rPr lang="en-US" sz="1739" spc="59">
                <a:solidFill>
                  <a:srgbClr val="FFFFFF"/>
                </a:solidFill>
                <a:latin typeface="Poppins"/>
                <a:ea typeface="Poppins"/>
                <a:cs typeface="Poppins"/>
                <a:sym typeface="Poppins"/>
              </a:rPr>
              <a:t>estión de datos relacionales: Organiza la información en tablas estructuradas.</a:t>
            </a:r>
          </a:p>
          <a:p>
            <a:pPr algn="l">
              <a:lnSpc>
                <a:spcPts val="1826"/>
              </a:lnSpc>
              <a:spcBef>
                <a:spcPct val="0"/>
              </a:spcBef>
            </a:pPr>
          </a:p>
          <a:p>
            <a:pPr algn="l" marL="375627" indent="-187814" lvl="1">
              <a:lnSpc>
                <a:spcPts val="1826"/>
              </a:lnSpc>
              <a:spcBef>
                <a:spcPct val="0"/>
              </a:spcBef>
              <a:buFont typeface="Arial"/>
              <a:buChar char="•"/>
            </a:pPr>
            <a:r>
              <a:rPr lang="en-US" sz="1739" spc="59">
                <a:solidFill>
                  <a:srgbClr val="FFFFFF"/>
                </a:solidFill>
                <a:latin typeface="Poppins"/>
                <a:ea typeface="Poppins"/>
                <a:cs typeface="Poppins"/>
                <a:sym typeface="Poppins"/>
              </a:rPr>
              <a:t>Alta disponibilidad y seguridad: Ofrece rendimiento escalable y robustez para cargas de trabajo críticas.</a:t>
            </a:r>
          </a:p>
          <a:p>
            <a:pPr algn="l">
              <a:lnSpc>
                <a:spcPts val="1826"/>
              </a:lnSpc>
              <a:spcBef>
                <a:spcPct val="0"/>
              </a:spcBef>
            </a:pPr>
          </a:p>
          <a:p>
            <a:pPr algn="l" marL="375627" indent="-187814" lvl="1">
              <a:lnSpc>
                <a:spcPts val="1826"/>
              </a:lnSpc>
              <a:spcBef>
                <a:spcPct val="0"/>
              </a:spcBef>
              <a:buFont typeface="Arial"/>
              <a:buChar char="•"/>
            </a:pPr>
            <a:r>
              <a:rPr lang="en-US" sz="1739" spc="59">
                <a:solidFill>
                  <a:srgbClr val="FFFFFF"/>
                </a:solidFill>
                <a:latin typeface="Poppins"/>
                <a:ea typeface="Poppins"/>
                <a:cs typeface="Poppins"/>
                <a:sym typeface="Poppins"/>
              </a:rPr>
              <a:t>Integración: Compatible con el ecosistema Microsoft (Azure, Windows Server).</a:t>
            </a:r>
          </a:p>
          <a:p>
            <a:pPr algn="l">
              <a:lnSpc>
                <a:spcPts val="1826"/>
              </a:lnSpc>
              <a:spcBef>
                <a:spcPct val="0"/>
              </a:spcBef>
            </a:pPr>
          </a:p>
          <a:p>
            <a:pPr algn="l" marL="375627" indent="-187814" lvl="1">
              <a:lnSpc>
                <a:spcPts val="1826"/>
              </a:lnSpc>
              <a:spcBef>
                <a:spcPct val="0"/>
              </a:spcBef>
              <a:buFont typeface="Arial"/>
              <a:buChar char="•"/>
            </a:pPr>
            <a:r>
              <a:rPr lang="en-US" sz="1739" spc="59">
                <a:solidFill>
                  <a:srgbClr val="FFFFFF"/>
                </a:solidFill>
                <a:latin typeface="Poppins"/>
                <a:ea typeface="Poppins"/>
                <a:cs typeface="Poppins"/>
                <a:sym typeface="Poppins"/>
              </a:rPr>
              <a:t>Herramientas: Incluye motores de análisis, reportes (SSRS) e integración de datos (SSIS</a:t>
            </a:r>
          </a:p>
          <a:p>
            <a:pPr algn="l">
              <a:lnSpc>
                <a:spcPts val="1826"/>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333483" y="-5083807"/>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297072" y="840906"/>
            <a:ext cx="11781481" cy="10860384"/>
          </a:xfrm>
          <a:custGeom>
            <a:avLst/>
            <a:gdLst/>
            <a:ahLst/>
            <a:cxnLst/>
            <a:rect r="r" b="b" t="t" l="l"/>
            <a:pathLst>
              <a:path h="10860384" w="11781481">
                <a:moveTo>
                  <a:pt x="0" y="0"/>
                </a:moveTo>
                <a:lnTo>
                  <a:pt x="11781481" y="0"/>
                </a:lnTo>
                <a:lnTo>
                  <a:pt x="11781481" y="10860383"/>
                </a:lnTo>
                <a:lnTo>
                  <a:pt x="0" y="10860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7600950" y="9365373"/>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0" id="10"/>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11" id="11"/>
          <p:cNvSpPr/>
          <p:nvPr/>
        </p:nvSpPr>
        <p:spPr>
          <a:xfrm flipH="false" flipV="false" rot="0">
            <a:off x="-4062196" y="1351079"/>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8"/>
            <a:stretch>
              <a:fillRect l="0" t="0" r="0" b="0"/>
            </a:stretch>
          </a:blipFill>
        </p:spPr>
      </p:sp>
      <p:sp>
        <p:nvSpPr>
          <p:cNvPr name="Freeform 12" id="12"/>
          <p:cNvSpPr/>
          <p:nvPr/>
        </p:nvSpPr>
        <p:spPr>
          <a:xfrm flipH="false" flipV="false" rot="0">
            <a:off x="1714696" y="2463304"/>
            <a:ext cx="4506176" cy="6846400"/>
          </a:xfrm>
          <a:custGeom>
            <a:avLst/>
            <a:gdLst/>
            <a:ahLst/>
            <a:cxnLst/>
            <a:rect r="r" b="b" t="t" l="l"/>
            <a:pathLst>
              <a:path h="6846400" w="4506176">
                <a:moveTo>
                  <a:pt x="0" y="0"/>
                </a:moveTo>
                <a:lnTo>
                  <a:pt x="4506176" y="0"/>
                </a:lnTo>
                <a:lnTo>
                  <a:pt x="4506176" y="6846400"/>
                </a:lnTo>
                <a:lnTo>
                  <a:pt x="0" y="6846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523980" y="2655858"/>
            <a:ext cx="3665913" cy="4114800"/>
          </a:xfrm>
          <a:custGeom>
            <a:avLst/>
            <a:gdLst/>
            <a:ahLst/>
            <a:cxnLst/>
            <a:rect r="r" b="b" t="t" l="l"/>
            <a:pathLst>
              <a:path h="4114800" w="3665913">
                <a:moveTo>
                  <a:pt x="0" y="0"/>
                </a:moveTo>
                <a:lnTo>
                  <a:pt x="3665912" y="0"/>
                </a:lnTo>
                <a:lnTo>
                  <a:pt x="3665912"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4" id="14"/>
          <p:cNvGrpSpPr/>
          <p:nvPr/>
        </p:nvGrpSpPr>
        <p:grpSpPr>
          <a:xfrm rot="0">
            <a:off x="6807617" y="2263898"/>
            <a:ext cx="3814194" cy="748374"/>
            <a:chOff x="0" y="0"/>
            <a:chExt cx="1004561" cy="197103"/>
          </a:xfrm>
        </p:grpSpPr>
        <p:sp>
          <p:nvSpPr>
            <p:cNvPr name="Freeform 15" id="15"/>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6" id="16"/>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17" id="17"/>
          <p:cNvSpPr/>
          <p:nvPr/>
        </p:nvSpPr>
        <p:spPr>
          <a:xfrm flipH="false" flipV="false" rot="0">
            <a:off x="7078882" y="2392355"/>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8" id="18"/>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9" id="19"/>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4</a:t>
            </a:r>
          </a:p>
        </p:txBody>
      </p:sp>
      <p:sp>
        <p:nvSpPr>
          <p:cNvPr name="TextBox 20" id="20"/>
          <p:cNvSpPr txBox="true"/>
          <p:nvPr/>
        </p:nvSpPr>
        <p:spPr>
          <a:xfrm rot="0">
            <a:off x="6807617" y="1609725"/>
            <a:ext cx="7388108" cy="65417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MARIA DB</a:t>
            </a:r>
          </a:p>
        </p:txBody>
      </p:sp>
      <p:sp>
        <p:nvSpPr>
          <p:cNvPr name="TextBox 21" id="21"/>
          <p:cNvSpPr txBox="true"/>
          <p:nvPr/>
        </p:nvSpPr>
        <p:spPr>
          <a:xfrm rot="0">
            <a:off x="7492676" y="2506889"/>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QUE ES</a:t>
            </a:r>
          </a:p>
        </p:txBody>
      </p:sp>
      <p:sp>
        <p:nvSpPr>
          <p:cNvPr name="TextBox 22" id="22"/>
          <p:cNvSpPr txBox="true"/>
          <p:nvPr/>
        </p:nvSpPr>
        <p:spPr>
          <a:xfrm rot="0">
            <a:off x="6888836" y="3145622"/>
            <a:ext cx="8114095" cy="2081019"/>
          </a:xfrm>
          <a:prstGeom prst="rect">
            <a:avLst/>
          </a:prstGeom>
        </p:spPr>
        <p:txBody>
          <a:bodyPr anchor="t" rtlCol="false" tIns="0" lIns="0" bIns="0" rIns="0">
            <a:spAutoFit/>
          </a:bodyPr>
          <a:lstStyle/>
          <a:p>
            <a:pPr algn="just">
              <a:lnSpc>
                <a:spcPts val="1826"/>
              </a:lnSpc>
            </a:pPr>
            <a:r>
              <a:rPr lang="en-US" sz="1739" spc="59">
                <a:solidFill>
                  <a:srgbClr val="FFFFFF"/>
                </a:solidFill>
                <a:latin typeface="Poppins"/>
                <a:ea typeface="Poppins"/>
                <a:cs typeface="Poppins"/>
                <a:sym typeface="Poppins"/>
              </a:rPr>
              <a:t>Es un sistema que permite la gestion de bases de datos relacionales  (RDBMS) de codigo abierto que funciona como un fork(bifurcación) es un reemplazo directo de MySQL fue creado por los creadores de MySQL.</a:t>
            </a:r>
          </a:p>
          <a:p>
            <a:pPr algn="just">
              <a:lnSpc>
                <a:spcPts val="1826"/>
              </a:lnSpc>
            </a:pPr>
            <a:r>
              <a:rPr lang="en-US" sz="1739" spc="59">
                <a:solidFill>
                  <a:srgbClr val="FFFFFF"/>
                </a:solidFill>
                <a:latin typeface="Poppins"/>
                <a:ea typeface="Poppins"/>
                <a:cs typeface="Poppins"/>
                <a:sym typeface="Poppins"/>
              </a:rPr>
              <a:t>Tiene una alta compatibilidad  y motores de almacenamiento avanzados como (Aria y XtraDB).</a:t>
            </a:r>
          </a:p>
          <a:p>
            <a:pPr algn="just">
              <a:lnSpc>
                <a:spcPts val="1826"/>
              </a:lnSpc>
            </a:pPr>
          </a:p>
          <a:p>
            <a:pPr algn="just">
              <a:lnSpc>
                <a:spcPts val="1826"/>
              </a:lnSpc>
              <a:spcBef>
                <a:spcPct val="0"/>
              </a:spcBef>
            </a:pPr>
            <a:r>
              <a:rPr lang="en-US" sz="1739" spc="59">
                <a:solidFill>
                  <a:srgbClr val="FFFFFF"/>
                </a:solidFill>
                <a:latin typeface="Poppins"/>
                <a:ea typeface="Poppins"/>
                <a:cs typeface="Poppins"/>
                <a:sym typeface="Poppins"/>
              </a:rPr>
              <a:t>Es muy usado por entornos web y empresariales gracias a su alta confiabiliddad.</a:t>
            </a:r>
          </a:p>
        </p:txBody>
      </p:sp>
      <p:grpSp>
        <p:nvGrpSpPr>
          <p:cNvPr name="Group 23" id="23"/>
          <p:cNvGrpSpPr/>
          <p:nvPr/>
        </p:nvGrpSpPr>
        <p:grpSpPr>
          <a:xfrm rot="0">
            <a:off x="13873364" y="5091692"/>
            <a:ext cx="3814194" cy="748374"/>
            <a:chOff x="0" y="0"/>
            <a:chExt cx="1004561" cy="197103"/>
          </a:xfrm>
        </p:grpSpPr>
        <p:sp>
          <p:nvSpPr>
            <p:cNvPr name="Freeform 24" id="24"/>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5" id="25"/>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26" id="26"/>
          <p:cNvSpPr/>
          <p:nvPr/>
        </p:nvSpPr>
        <p:spPr>
          <a:xfrm flipH="false" flipV="false" rot="0">
            <a:off x="14195725" y="5226641"/>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7" id="27"/>
          <p:cNvSpPr txBox="true"/>
          <p:nvPr/>
        </p:nvSpPr>
        <p:spPr>
          <a:xfrm rot="0">
            <a:off x="14648703" y="5316910"/>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 </a:t>
            </a:r>
            <a:r>
              <a:rPr lang="en-US" b="true" sz="2139" spc="72">
                <a:solidFill>
                  <a:srgbClr val="FFFFFF"/>
                </a:solidFill>
                <a:latin typeface="Poppins Bold"/>
                <a:ea typeface="Poppins Bold"/>
                <a:cs typeface="Poppins Bold"/>
                <a:sym typeface="Poppins Bold"/>
              </a:rPr>
              <a:t>C</a:t>
            </a:r>
            <a:r>
              <a:rPr lang="en-US" b="true" sz="2139" spc="72">
                <a:solidFill>
                  <a:srgbClr val="FFFFFF"/>
                </a:solidFill>
                <a:latin typeface="Poppins Bold"/>
                <a:ea typeface="Poppins Bold"/>
                <a:cs typeface="Poppins Bold"/>
                <a:sym typeface="Poppins Bold"/>
              </a:rPr>
              <a:t>ARACTERÍSTICAS</a:t>
            </a:r>
          </a:p>
        </p:txBody>
      </p:sp>
      <p:sp>
        <p:nvSpPr>
          <p:cNvPr name="TextBox 28" id="28"/>
          <p:cNvSpPr txBox="true"/>
          <p:nvPr/>
        </p:nvSpPr>
        <p:spPr>
          <a:xfrm rot="0">
            <a:off x="6391126" y="5763171"/>
            <a:ext cx="8114095" cy="2975416"/>
          </a:xfrm>
          <a:prstGeom prst="rect">
            <a:avLst/>
          </a:prstGeom>
        </p:spPr>
        <p:txBody>
          <a:bodyPr anchor="t" rtlCol="false" tIns="0" lIns="0" bIns="0" rIns="0">
            <a:spAutoFit/>
          </a:bodyPr>
          <a:lstStyle/>
          <a:p>
            <a:pPr algn="l" marL="354038" indent="-177019" lvl="1">
              <a:lnSpc>
                <a:spcPts val="1721"/>
              </a:lnSpc>
              <a:spcBef>
                <a:spcPct val="0"/>
              </a:spcBef>
              <a:buFont typeface="Arial"/>
              <a:buChar char="•"/>
            </a:pPr>
            <a:r>
              <a:rPr lang="en-US" sz="1639" spc="55">
                <a:solidFill>
                  <a:srgbClr val="FFFFFF"/>
                </a:solidFill>
                <a:latin typeface="Poppins"/>
                <a:ea typeface="Poppins"/>
                <a:cs typeface="Poppins"/>
                <a:sym typeface="Poppins"/>
              </a:rPr>
              <a:t>Origen: Creado en 2009 p</a:t>
            </a:r>
            <a:r>
              <a:rPr lang="en-US" sz="1639" spc="55">
                <a:solidFill>
                  <a:srgbClr val="FFFFFF"/>
                </a:solidFill>
                <a:latin typeface="Poppins"/>
                <a:ea typeface="Poppins"/>
                <a:cs typeface="Poppins"/>
                <a:sym typeface="Poppins"/>
              </a:rPr>
              <a:t>or Michael "Monty" Widenius tras la adquisición de MySQL por Oracle, con el objetivo de mantenerlo libre y de código abierto.</a:t>
            </a:r>
          </a:p>
          <a:p>
            <a:pPr algn="l" marL="354038" indent="-177019" lvl="1">
              <a:lnSpc>
                <a:spcPts val="1721"/>
              </a:lnSpc>
              <a:spcBef>
                <a:spcPct val="0"/>
              </a:spcBef>
              <a:buFont typeface="Arial"/>
              <a:buChar char="•"/>
            </a:pPr>
            <a:r>
              <a:rPr lang="en-US" sz="1639" spc="55">
                <a:solidFill>
                  <a:srgbClr val="FFFFFF"/>
                </a:solidFill>
                <a:latin typeface="Poppins"/>
                <a:ea typeface="Poppins"/>
                <a:cs typeface="Poppins"/>
                <a:sym typeface="Poppins"/>
              </a:rPr>
              <a:t>Compatibilidad: Está diseñado para ser un "drop-in replacement" de MySQL. Esto significa que la mayoría de aplicaciones, comandos, APIs y librerías que funcionan con MySQL, funcionan igual en MariaDB.</a:t>
            </a:r>
          </a:p>
          <a:p>
            <a:pPr algn="l" marL="354038" indent="-177019" lvl="1">
              <a:lnSpc>
                <a:spcPts val="1721"/>
              </a:lnSpc>
              <a:spcBef>
                <a:spcPct val="0"/>
              </a:spcBef>
              <a:buFont typeface="Arial"/>
              <a:buChar char="•"/>
            </a:pPr>
            <a:r>
              <a:rPr lang="en-US" sz="1639" spc="55">
                <a:solidFill>
                  <a:srgbClr val="FFFFFF"/>
                </a:solidFill>
                <a:latin typeface="Poppins"/>
                <a:ea typeface="Poppins"/>
                <a:cs typeface="Poppins"/>
                <a:sym typeface="Poppins"/>
              </a:rPr>
              <a:t>Ventajas Técnicas: Suele ser más rápido, más ligero y ofrece más motores de almacenamiento (como ColumnStore o Galera Cluster) que MySQL.</a:t>
            </a:r>
          </a:p>
          <a:p>
            <a:pPr algn="l" marL="354038" indent="-177019" lvl="1">
              <a:lnSpc>
                <a:spcPts val="1721"/>
              </a:lnSpc>
              <a:spcBef>
                <a:spcPct val="0"/>
              </a:spcBef>
              <a:buFont typeface="Arial"/>
              <a:buChar char="•"/>
            </a:pPr>
            <a:r>
              <a:rPr lang="en-US" sz="1639" spc="55">
                <a:solidFill>
                  <a:srgbClr val="FFFFFF"/>
                </a:solidFill>
                <a:latin typeface="Poppins"/>
                <a:ea typeface="Poppins"/>
                <a:cs typeface="Poppins"/>
                <a:sym typeface="Poppins"/>
              </a:rPr>
              <a:t>Licencia: Es 100% de código abierto (licencia GPL), garantizando que siga siendo libre bajo la Fundación MariaDB.</a:t>
            </a:r>
          </a:p>
          <a:p>
            <a:pPr algn="l" marL="354038" indent="-177019" lvl="1">
              <a:lnSpc>
                <a:spcPts val="1721"/>
              </a:lnSpc>
              <a:spcBef>
                <a:spcPct val="0"/>
              </a:spcBef>
              <a:buFont typeface="Arial"/>
              <a:buChar char="•"/>
            </a:pPr>
            <a:r>
              <a:rPr lang="en-US" sz="1639" spc="55">
                <a:solidFill>
                  <a:srgbClr val="FFFFFF"/>
                </a:solidFill>
                <a:latin typeface="Poppins"/>
                <a:ea typeface="Poppins"/>
                <a:cs typeface="Poppins"/>
                <a:sym typeface="Poppins"/>
              </a:rPr>
              <a:t>Uso: Popular en el desarrollo web (stacks LAMP/LEMP), utilizado por empresas como WordPress.com, Wikipedia y Google</a:t>
            </a:r>
          </a:p>
          <a:p>
            <a:pPr algn="l">
              <a:lnSpc>
                <a:spcPts val="1826"/>
              </a:lnSpc>
              <a:spcBef>
                <a:spcPct val="0"/>
              </a:spcBef>
            </a:pPr>
          </a:p>
        </p:txBody>
      </p:sp>
      <p:sp>
        <p:nvSpPr>
          <p:cNvPr name="Freeform 29" id="29"/>
          <p:cNvSpPr/>
          <p:nvPr/>
        </p:nvSpPr>
        <p:spPr>
          <a:xfrm flipH="false" flipV="false" rot="0">
            <a:off x="17259300" y="235291"/>
            <a:ext cx="549282" cy="549282"/>
          </a:xfrm>
          <a:custGeom>
            <a:avLst/>
            <a:gdLst/>
            <a:ahLst/>
            <a:cxnLst/>
            <a:rect r="r" b="b" t="t" l="l"/>
            <a:pathLst>
              <a:path h="549282" w="549282">
                <a:moveTo>
                  <a:pt x="0" y="0"/>
                </a:moveTo>
                <a:lnTo>
                  <a:pt x="549282" y="0"/>
                </a:lnTo>
                <a:lnTo>
                  <a:pt x="549282" y="549283"/>
                </a:lnTo>
                <a:lnTo>
                  <a:pt x="0" y="54928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5712280" y="3380534"/>
            <a:ext cx="11793987" cy="8856212"/>
          </a:xfrm>
          <a:custGeom>
            <a:avLst/>
            <a:gdLst/>
            <a:ahLst/>
            <a:cxnLst/>
            <a:rect r="r" b="b" t="t" l="l"/>
            <a:pathLst>
              <a:path h="8856212" w="11793987">
                <a:moveTo>
                  <a:pt x="0" y="0"/>
                </a:moveTo>
                <a:lnTo>
                  <a:pt x="11793987" y="0"/>
                </a:lnTo>
                <a:lnTo>
                  <a:pt x="11793987" y="8856212"/>
                </a:lnTo>
                <a:lnTo>
                  <a:pt x="0" y="8856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65344" y="-299425"/>
            <a:ext cx="11706247" cy="11706247"/>
          </a:xfrm>
          <a:custGeom>
            <a:avLst/>
            <a:gdLst/>
            <a:ahLst/>
            <a:cxnLst/>
            <a:rect r="r" b="b" t="t" l="l"/>
            <a:pathLst>
              <a:path h="11706247" w="11706247">
                <a:moveTo>
                  <a:pt x="0" y="0"/>
                </a:moveTo>
                <a:lnTo>
                  <a:pt x="11706247" y="0"/>
                </a:lnTo>
                <a:lnTo>
                  <a:pt x="11706247" y="11706247"/>
                </a:lnTo>
                <a:lnTo>
                  <a:pt x="0" y="117062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65251" y="-1543050"/>
            <a:ext cx="4199655" cy="3086100"/>
            <a:chOff x="0" y="0"/>
            <a:chExt cx="1106082" cy="812800"/>
          </a:xfrm>
        </p:grpSpPr>
        <p:sp>
          <p:nvSpPr>
            <p:cNvPr name="Freeform 5" id="5"/>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6" id="6"/>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7" id="7"/>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7600950" y="9365373"/>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0" id="10"/>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TextBox 11" id="11"/>
          <p:cNvSpPr txBox="true"/>
          <p:nvPr/>
        </p:nvSpPr>
        <p:spPr>
          <a:xfrm rot="0">
            <a:off x="7433789" y="2124075"/>
            <a:ext cx="9153660" cy="652303"/>
          </a:xfrm>
          <a:prstGeom prst="rect">
            <a:avLst/>
          </a:prstGeom>
        </p:spPr>
        <p:txBody>
          <a:bodyPr anchor="t" rtlCol="false" tIns="0" lIns="0" bIns="0" rIns="0">
            <a:spAutoFit/>
          </a:bodyPr>
          <a:lstStyle/>
          <a:p>
            <a:pPr algn="ctr">
              <a:lnSpc>
                <a:spcPts val="4978"/>
              </a:lnSpc>
            </a:pPr>
            <a:r>
              <a:rPr lang="en-US" b="true" sz="4741">
                <a:solidFill>
                  <a:srgbClr val="FFFFFF"/>
                </a:solidFill>
                <a:latin typeface="TT Lakes Neue Expanded Bold"/>
                <a:ea typeface="TT Lakes Neue Expanded Bold"/>
                <a:cs typeface="TT Lakes Neue Expanded Bold"/>
                <a:sym typeface="TT Lakes Neue Expanded Bold"/>
              </a:rPr>
              <a:t>SQLITE</a:t>
            </a:r>
          </a:p>
        </p:txBody>
      </p:sp>
      <p:sp>
        <p:nvSpPr>
          <p:cNvPr name="Freeform 12" id="12"/>
          <p:cNvSpPr/>
          <p:nvPr/>
        </p:nvSpPr>
        <p:spPr>
          <a:xfrm flipH="false" flipV="false" rot="0">
            <a:off x="-1274888" y="1342350"/>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8"/>
            <a:stretch>
              <a:fillRect l="0" t="0" r="0" b="0"/>
            </a:stretch>
          </a:blipFill>
        </p:spPr>
      </p:sp>
      <p:sp>
        <p:nvSpPr>
          <p:cNvPr name="Freeform 13" id="13"/>
          <p:cNvSpPr/>
          <p:nvPr/>
        </p:nvSpPr>
        <p:spPr>
          <a:xfrm flipH="false" flipV="false" rot="0">
            <a:off x="551429" y="1966631"/>
            <a:ext cx="4351401" cy="8229600"/>
          </a:xfrm>
          <a:custGeom>
            <a:avLst/>
            <a:gdLst/>
            <a:ahLst/>
            <a:cxnLst/>
            <a:rect r="r" b="b" t="t" l="l"/>
            <a:pathLst>
              <a:path h="8229600" w="4351401">
                <a:moveTo>
                  <a:pt x="0" y="0"/>
                </a:moveTo>
                <a:lnTo>
                  <a:pt x="4351401" y="0"/>
                </a:lnTo>
                <a:lnTo>
                  <a:pt x="4351401" y="8229600"/>
                </a:lnTo>
                <a:lnTo>
                  <a:pt x="0" y="8229600"/>
                </a:lnTo>
                <a:lnTo>
                  <a:pt x="0" y="0"/>
                </a:lnTo>
                <a:close/>
              </a:path>
            </a:pathLst>
          </a:custGeom>
          <a:blipFill>
            <a:blip r:embed="rId9"/>
            <a:stretch>
              <a:fillRect l="0" t="0" r="0" b="0"/>
            </a:stretch>
          </a:blipFill>
        </p:spPr>
      </p:sp>
      <p:sp>
        <p:nvSpPr>
          <p:cNvPr name="TextBox 14" id="14"/>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5" id="15"/>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18</a:t>
            </a:r>
          </a:p>
        </p:txBody>
      </p:sp>
      <p:grpSp>
        <p:nvGrpSpPr>
          <p:cNvPr name="Group 16" id="16"/>
          <p:cNvGrpSpPr/>
          <p:nvPr/>
        </p:nvGrpSpPr>
        <p:grpSpPr>
          <a:xfrm rot="0">
            <a:off x="7433789" y="4682114"/>
            <a:ext cx="3814194" cy="748374"/>
            <a:chOff x="0" y="0"/>
            <a:chExt cx="5085592" cy="997833"/>
          </a:xfrm>
        </p:grpSpPr>
        <p:grpSp>
          <p:nvGrpSpPr>
            <p:cNvPr name="Group 17" id="17"/>
            <p:cNvGrpSpPr/>
            <p:nvPr/>
          </p:nvGrpSpPr>
          <p:grpSpPr>
            <a:xfrm rot="0">
              <a:off x="0" y="0"/>
              <a:ext cx="5085592" cy="997833"/>
              <a:chOff x="0" y="0"/>
              <a:chExt cx="1004561" cy="197103"/>
            </a:xfrm>
          </p:grpSpPr>
          <p:sp>
            <p:nvSpPr>
              <p:cNvPr name="Freeform 18" id="18"/>
              <p:cNvSpPr/>
              <p:nvPr/>
            </p:nvSpPr>
            <p:spPr>
              <a:xfrm flipH="false" flipV="false" rot="0">
                <a:off x="0" y="0"/>
                <a:ext cx="1004561" cy="197103"/>
              </a:xfrm>
              <a:custGeom>
                <a:avLst/>
                <a:gdLst/>
                <a:ahLst/>
                <a:cxnLst/>
                <a:rect r="r" b="b" t="t" l="l"/>
                <a:pathLst>
                  <a:path h="197103" w="1004561">
                    <a:moveTo>
                      <a:pt x="50744" y="0"/>
                    </a:moveTo>
                    <a:lnTo>
                      <a:pt x="953817" y="0"/>
                    </a:lnTo>
                    <a:cubicBezTo>
                      <a:pt x="967275" y="0"/>
                      <a:pt x="980182" y="5346"/>
                      <a:pt x="989699" y="14863"/>
                    </a:cubicBezTo>
                    <a:cubicBezTo>
                      <a:pt x="999215" y="24379"/>
                      <a:pt x="1004561" y="37286"/>
                      <a:pt x="1004561" y="50744"/>
                    </a:cubicBezTo>
                    <a:lnTo>
                      <a:pt x="1004561" y="146359"/>
                    </a:lnTo>
                    <a:cubicBezTo>
                      <a:pt x="1004561" y="159817"/>
                      <a:pt x="999215" y="172724"/>
                      <a:pt x="989699" y="182240"/>
                    </a:cubicBezTo>
                    <a:cubicBezTo>
                      <a:pt x="980182" y="191756"/>
                      <a:pt x="967275" y="197103"/>
                      <a:pt x="953817" y="197103"/>
                    </a:cubicBezTo>
                    <a:lnTo>
                      <a:pt x="50744" y="197103"/>
                    </a:lnTo>
                    <a:cubicBezTo>
                      <a:pt x="22719" y="197103"/>
                      <a:pt x="0" y="174384"/>
                      <a:pt x="0" y="146359"/>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19" id="19"/>
              <p:cNvSpPr txBox="true"/>
              <p:nvPr/>
            </p:nvSpPr>
            <p:spPr>
              <a:xfrm>
                <a:off x="0" y="28575"/>
                <a:ext cx="1004561" cy="168528"/>
              </a:xfrm>
              <a:prstGeom prst="rect">
                <a:avLst/>
              </a:prstGeom>
            </p:spPr>
            <p:txBody>
              <a:bodyPr anchor="ctr" rtlCol="false" tIns="50800" lIns="50800" bIns="50800" rIns="50800"/>
              <a:lstStyle/>
              <a:p>
                <a:pPr algn="ctr">
                  <a:lnSpc>
                    <a:spcPts val="1826"/>
                  </a:lnSpc>
                </a:pPr>
              </a:p>
            </p:txBody>
          </p:sp>
        </p:grpSp>
        <p:sp>
          <p:nvSpPr>
            <p:cNvPr name="Freeform 20" id="20"/>
            <p:cNvSpPr/>
            <p:nvPr/>
          </p:nvSpPr>
          <p:spPr>
            <a:xfrm flipH="false" flipV="false" rot="0">
              <a:off x="247775" y="155459"/>
              <a:ext cx="412661" cy="702674"/>
            </a:xfrm>
            <a:custGeom>
              <a:avLst/>
              <a:gdLst/>
              <a:ahLst/>
              <a:cxnLst/>
              <a:rect r="r" b="b" t="t" l="l"/>
              <a:pathLst>
                <a:path h="702674" w="412661">
                  <a:moveTo>
                    <a:pt x="0" y="0"/>
                  </a:moveTo>
                  <a:lnTo>
                    <a:pt x="412661" y="0"/>
                  </a:lnTo>
                  <a:lnTo>
                    <a:pt x="412661" y="702674"/>
                  </a:lnTo>
                  <a:lnTo>
                    <a:pt x="0" y="7026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660436" y="304995"/>
              <a:ext cx="4253231" cy="355911"/>
            </a:xfrm>
            <a:prstGeom prst="rect">
              <a:avLst/>
            </a:prstGeom>
          </p:spPr>
          <p:txBody>
            <a:bodyPr anchor="t" rtlCol="false" tIns="0" lIns="0" bIns="0" rIns="0">
              <a:spAutoFit/>
            </a:bodyPr>
            <a:lstStyle/>
            <a:p>
              <a:pPr algn="just">
                <a:lnSpc>
                  <a:spcPts val="1942"/>
                </a:lnSpc>
                <a:spcBef>
                  <a:spcPct val="0"/>
                </a:spcBef>
              </a:pPr>
              <a:r>
                <a:rPr lang="en-US" b="true" sz="1850" spc="62">
                  <a:solidFill>
                    <a:srgbClr val="FFFFFF"/>
                  </a:solidFill>
                  <a:latin typeface="Poppins Bold"/>
                  <a:ea typeface="Poppins Bold"/>
                  <a:cs typeface="Poppins Bold"/>
                  <a:sym typeface="Poppins Bold"/>
                </a:rPr>
                <a:t>CÓMO FUNCIONA SQLITE</a:t>
              </a:r>
            </a:p>
          </p:txBody>
        </p:sp>
      </p:grpSp>
      <p:sp>
        <p:nvSpPr>
          <p:cNvPr name="TextBox 22" id="22"/>
          <p:cNvSpPr txBox="true"/>
          <p:nvPr/>
        </p:nvSpPr>
        <p:spPr>
          <a:xfrm rot="0">
            <a:off x="6623005" y="5727622"/>
            <a:ext cx="5932130" cy="27668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SQLite es una </a:t>
            </a:r>
            <a:r>
              <a:rPr lang="en-US" sz="1739" spc="59" u="sng">
                <a:solidFill>
                  <a:srgbClr val="FFFFFF"/>
                </a:solidFill>
                <a:latin typeface="Poppins"/>
                <a:ea typeface="Poppins"/>
                <a:cs typeface="Poppins"/>
                <a:sym typeface="Poppins"/>
                <a:hlinkClick r:id="rId12" tooltip="https://builtin.com/machine-learning/machine-learning-libraries"/>
              </a:rPr>
              <a:t>biblioteca de software</a:t>
            </a:r>
            <a:r>
              <a:rPr lang="en-US" sz="1739" spc="59">
                <a:solidFill>
                  <a:srgbClr val="FFFFFF"/>
                </a:solidFill>
                <a:latin typeface="Poppins"/>
                <a:ea typeface="Poppins"/>
                <a:cs typeface="Poppins"/>
                <a:sym typeface="Poppins"/>
              </a:rPr>
              <a:t> que permit</a:t>
            </a:r>
            <a:r>
              <a:rPr lang="en-US" sz="1739" spc="59" u="none">
                <a:solidFill>
                  <a:srgbClr val="FFFFFF"/>
                </a:solidFill>
                <a:latin typeface="Poppins"/>
                <a:ea typeface="Poppins"/>
                <a:cs typeface="Poppins"/>
                <a:sym typeface="Poppins"/>
              </a:rPr>
              <a:t>e </a:t>
            </a:r>
            <a:r>
              <a:rPr lang="en-US" sz="1739" spc="59">
                <a:solidFill>
                  <a:srgbClr val="FFFFFF"/>
                </a:solidFill>
                <a:latin typeface="Poppins"/>
                <a:ea typeface="Poppins"/>
                <a:cs typeface="Poppins"/>
                <a:sym typeface="Poppins"/>
              </a:rPr>
              <a:t>alm</a:t>
            </a:r>
            <a:r>
              <a:rPr lang="en-US" sz="1739" spc="59" u="none">
                <a:solidFill>
                  <a:srgbClr val="FFFFFF"/>
                </a:solidFill>
                <a:latin typeface="Poppins"/>
                <a:ea typeface="Poppins"/>
                <a:cs typeface="Poppins"/>
                <a:sym typeface="Poppins"/>
              </a:rPr>
              <a:t>a</a:t>
            </a:r>
            <a:r>
              <a:rPr lang="en-US" sz="1739" spc="59">
                <a:solidFill>
                  <a:srgbClr val="FFFFFF"/>
                </a:solidFill>
                <a:latin typeface="Poppins"/>
                <a:ea typeface="Poppins"/>
                <a:cs typeface="Poppins"/>
                <a:sym typeface="Poppins"/>
              </a:rPr>
              <a:t>c</a:t>
            </a:r>
            <a:r>
              <a:rPr lang="en-US" sz="1739" spc="59" u="none">
                <a:solidFill>
                  <a:srgbClr val="FFFFFF"/>
                </a:solidFill>
                <a:latin typeface="Poppins"/>
                <a:ea typeface="Poppins"/>
                <a:cs typeface="Poppins"/>
                <a:sym typeface="Poppins"/>
              </a:rPr>
              <a:t>e</a:t>
            </a:r>
            <a:r>
              <a:rPr lang="en-US" sz="1739" spc="59">
                <a:solidFill>
                  <a:srgbClr val="FFFFFF"/>
                </a:solidFill>
                <a:latin typeface="Poppins"/>
                <a:ea typeface="Poppins"/>
                <a:cs typeface="Poppins"/>
                <a:sym typeface="Poppins"/>
              </a:rPr>
              <a:t>nar</a:t>
            </a:r>
            <a:r>
              <a:rPr lang="en-US" sz="1739" spc="59" u="none">
                <a:solidFill>
                  <a:srgbClr val="FFFFFF"/>
                </a:solidFill>
                <a:latin typeface="Poppins"/>
                <a:ea typeface="Poppins"/>
                <a:cs typeface="Poppins"/>
                <a:sym typeface="Poppins"/>
              </a:rPr>
              <a:t> datos e</a:t>
            </a:r>
            <a:r>
              <a:rPr lang="en-US" sz="1739" spc="59">
                <a:solidFill>
                  <a:srgbClr val="FFFFFF"/>
                </a:solidFill>
                <a:latin typeface="Poppins"/>
                <a:ea typeface="Poppins"/>
                <a:cs typeface="Poppins"/>
                <a:sym typeface="Poppins"/>
              </a:rPr>
              <a:t>structur</a:t>
            </a:r>
            <a:r>
              <a:rPr lang="en-US" sz="1739" spc="59" u="none">
                <a:solidFill>
                  <a:srgbClr val="FFFFFF"/>
                </a:solidFill>
                <a:latin typeface="Poppins"/>
                <a:ea typeface="Poppins"/>
                <a:cs typeface="Poppins"/>
                <a:sym typeface="Poppins"/>
              </a:rPr>
              <a:t>a</a:t>
            </a:r>
            <a:r>
              <a:rPr lang="en-US" sz="1739" spc="59">
                <a:solidFill>
                  <a:srgbClr val="FFFFFF"/>
                </a:solidFill>
                <a:latin typeface="Poppins"/>
                <a:ea typeface="Poppins"/>
                <a:cs typeface="Poppins"/>
                <a:sym typeface="Poppins"/>
              </a:rPr>
              <a:t>dos, </a:t>
            </a:r>
            <a:r>
              <a:rPr lang="en-US" sz="1739" spc="59" u="none">
                <a:solidFill>
                  <a:srgbClr val="FFFFFF"/>
                </a:solidFill>
                <a:latin typeface="Poppins"/>
                <a:ea typeface="Poppins"/>
                <a:cs typeface="Poppins"/>
                <a:sym typeface="Poppins"/>
              </a:rPr>
              <a:t>c</a:t>
            </a:r>
            <a:r>
              <a:rPr lang="en-US" sz="1739" spc="59">
                <a:solidFill>
                  <a:srgbClr val="FFFFFF"/>
                </a:solidFill>
                <a:latin typeface="Poppins"/>
                <a:ea typeface="Poppins"/>
                <a:cs typeface="Poppins"/>
                <a:sym typeface="Poppins"/>
              </a:rPr>
              <a:t>om</a:t>
            </a:r>
            <a:r>
              <a:rPr lang="en-US" sz="1739" spc="59" u="none">
                <a:solidFill>
                  <a:srgbClr val="FFFFFF"/>
                </a:solidFill>
                <a:latin typeface="Poppins"/>
                <a:ea typeface="Poppins"/>
                <a:cs typeface="Poppins"/>
                <a:sym typeface="Poppins"/>
              </a:rPr>
              <a:t>o</a:t>
            </a:r>
            <a:r>
              <a:rPr lang="en-US" sz="1739" spc="59">
                <a:solidFill>
                  <a:srgbClr val="FFFFFF"/>
                </a:solidFill>
                <a:latin typeface="Poppins"/>
                <a:ea typeface="Poppins"/>
                <a:cs typeface="Poppins"/>
                <a:sym typeface="Poppins"/>
              </a:rPr>
              <a:t> texto o </a:t>
            </a:r>
            <a:r>
              <a:rPr lang="en-US" sz="1739" spc="59" u="none">
                <a:solidFill>
                  <a:srgbClr val="FFFFFF"/>
                </a:solidFill>
                <a:latin typeface="Poppins"/>
                <a:ea typeface="Poppins"/>
                <a:cs typeface="Poppins"/>
                <a:sym typeface="Poppins"/>
              </a:rPr>
              <a:t>n</a:t>
            </a:r>
            <a:r>
              <a:rPr lang="en-US" sz="1739" spc="59">
                <a:solidFill>
                  <a:srgbClr val="FFFFFF"/>
                </a:solidFill>
                <a:latin typeface="Poppins"/>
                <a:ea typeface="Poppins"/>
                <a:cs typeface="Poppins"/>
                <a:sym typeface="Poppins"/>
              </a:rPr>
              <a:t>úm</a:t>
            </a:r>
            <a:r>
              <a:rPr lang="en-US" sz="1739" spc="59" u="none">
                <a:solidFill>
                  <a:srgbClr val="FFFFFF"/>
                </a:solidFill>
                <a:latin typeface="Poppins"/>
                <a:ea typeface="Poppins"/>
                <a:cs typeface="Poppins"/>
                <a:sym typeface="Poppins"/>
              </a:rPr>
              <a:t>e</a:t>
            </a:r>
            <a:r>
              <a:rPr lang="en-US" sz="1739" spc="59">
                <a:solidFill>
                  <a:srgbClr val="FFFFFF"/>
                </a:solidFill>
                <a:latin typeface="Poppins"/>
                <a:ea typeface="Poppins"/>
                <a:cs typeface="Poppins"/>
                <a:sym typeface="Poppins"/>
              </a:rPr>
              <a:t>ro</a:t>
            </a:r>
            <a:r>
              <a:rPr lang="en-US" sz="1739" spc="59" u="none">
                <a:solidFill>
                  <a:srgbClr val="FFFFFF"/>
                </a:solidFill>
                <a:latin typeface="Poppins"/>
                <a:ea typeface="Poppins"/>
                <a:cs typeface="Poppins"/>
                <a:sym typeface="Poppins"/>
              </a:rPr>
              <a:t>s</a:t>
            </a:r>
            <a:r>
              <a:rPr lang="en-US" sz="1739" spc="59">
                <a:solidFill>
                  <a:srgbClr val="FFFFFF"/>
                </a:solidFill>
                <a:latin typeface="Poppins"/>
                <a:ea typeface="Poppins"/>
                <a:cs typeface="Poppins"/>
                <a:sym typeface="Poppins"/>
              </a:rPr>
              <a:t>, en un archivo de base de datos en el disco duro del ordenador. Este método de alm</a:t>
            </a:r>
            <a:r>
              <a:rPr lang="en-US" sz="1739" spc="59" u="none">
                <a:solidFill>
                  <a:srgbClr val="FFFFFF"/>
                </a:solidFill>
                <a:latin typeface="Poppins"/>
                <a:ea typeface="Poppins"/>
                <a:cs typeface="Poppins"/>
                <a:sym typeface="Poppins"/>
              </a:rPr>
              <a:t>a</a:t>
            </a:r>
            <a:r>
              <a:rPr lang="en-US" sz="1739" spc="59">
                <a:solidFill>
                  <a:srgbClr val="FFFFFF"/>
                </a:solidFill>
                <a:latin typeface="Poppins"/>
                <a:ea typeface="Poppins"/>
                <a:cs typeface="Poppins"/>
                <a:sym typeface="Poppins"/>
              </a:rPr>
              <a:t>c</a:t>
            </a:r>
            <a:r>
              <a:rPr lang="en-US" sz="1739" spc="59" u="none">
                <a:solidFill>
                  <a:srgbClr val="FFFFFF"/>
                </a:solidFill>
                <a:latin typeface="Poppins"/>
                <a:ea typeface="Poppins"/>
                <a:cs typeface="Poppins"/>
                <a:sym typeface="Poppins"/>
              </a:rPr>
              <a:t>e</a:t>
            </a:r>
            <a:r>
              <a:rPr lang="en-US" sz="1739" spc="59">
                <a:solidFill>
                  <a:srgbClr val="FFFFFF"/>
                </a:solidFill>
                <a:latin typeface="Poppins"/>
                <a:ea typeface="Poppins"/>
                <a:cs typeface="Poppins"/>
                <a:sym typeface="Poppins"/>
              </a:rPr>
              <a:t>n</a:t>
            </a:r>
            <a:r>
              <a:rPr lang="en-US" sz="1739" spc="59" u="none">
                <a:solidFill>
                  <a:srgbClr val="FFFFFF"/>
                </a:solidFill>
                <a:latin typeface="Poppins"/>
                <a:ea typeface="Poppins"/>
                <a:cs typeface="Poppins"/>
                <a:sym typeface="Poppins"/>
              </a:rPr>
              <a:t>a</a:t>
            </a:r>
            <a:r>
              <a:rPr lang="en-US" sz="1739" spc="59">
                <a:solidFill>
                  <a:srgbClr val="FFFFFF"/>
                </a:solidFill>
                <a:latin typeface="Poppins"/>
                <a:ea typeface="Poppins"/>
                <a:cs typeface="Poppins"/>
                <a:sym typeface="Poppins"/>
              </a:rPr>
              <a:t>mien</a:t>
            </a:r>
            <a:r>
              <a:rPr lang="en-US" sz="1739" spc="59" u="none">
                <a:solidFill>
                  <a:srgbClr val="FFFFFF"/>
                </a:solidFill>
                <a:latin typeface="Poppins"/>
                <a:ea typeface="Poppins"/>
                <a:cs typeface="Poppins"/>
                <a:sym typeface="Poppins"/>
              </a:rPr>
              <a:t>to</a:t>
            </a:r>
            <a:r>
              <a:rPr lang="en-US" sz="1739" spc="59">
                <a:solidFill>
                  <a:srgbClr val="FFFFFF"/>
                </a:solidFill>
                <a:latin typeface="Poppins"/>
                <a:ea typeface="Poppins"/>
                <a:cs typeface="Poppins"/>
                <a:sym typeface="Poppins"/>
              </a:rPr>
              <a:t> </a:t>
            </a:r>
            <a:r>
              <a:rPr lang="en-US" sz="1739" spc="59" u="none">
                <a:solidFill>
                  <a:srgbClr val="FFFFFF"/>
                </a:solidFill>
                <a:latin typeface="Poppins"/>
                <a:ea typeface="Poppins"/>
                <a:cs typeface="Poppins"/>
                <a:sym typeface="Poppins"/>
              </a:rPr>
              <a:t>s</a:t>
            </a:r>
            <a:r>
              <a:rPr lang="en-US" sz="1739" spc="59">
                <a:solidFill>
                  <a:srgbClr val="FFFFFF"/>
                </a:solidFill>
                <a:latin typeface="Poppins"/>
                <a:ea typeface="Poppins"/>
                <a:cs typeface="Poppins"/>
                <a:sym typeface="Poppins"/>
              </a:rPr>
              <a:t>e denomina </a:t>
            </a:r>
            <a:r>
              <a:rPr lang="en-US" sz="1739" spc="59" u="sng">
                <a:solidFill>
                  <a:srgbClr val="FFFFFF"/>
                </a:solidFill>
                <a:latin typeface="Poppins"/>
                <a:ea typeface="Poppins"/>
                <a:cs typeface="Poppins"/>
                <a:sym typeface="Poppins"/>
                <a:hlinkClick r:id="rId13" tooltip="https://builtin.com/data-science/data-management"/>
              </a:rPr>
              <a:t>gestión de bases de datos</a:t>
            </a:r>
            <a:r>
              <a:rPr lang="en-US" sz="1739" spc="59">
                <a:solidFill>
                  <a:srgbClr val="FFFFFF"/>
                </a:solidFill>
                <a:latin typeface="Poppins"/>
                <a:ea typeface="Poppins"/>
                <a:cs typeface="Poppins"/>
                <a:sym typeface="Poppins"/>
              </a:rPr>
              <a:t> integradas . No requiere usuarios específicos ni configuraciones de administración de bases de datos especializadas. Todo esto facilita la implementación de SQLite en sistemas integrados y servidores de red. La aplicación SQLite es compatible con varios lenguajes de programación, como </a:t>
            </a:r>
            <a:r>
              <a:rPr lang="en-US" sz="1739" spc="59" u="sng">
                <a:solidFill>
                  <a:srgbClr val="FFFFFF"/>
                </a:solidFill>
                <a:latin typeface="Poppins"/>
                <a:ea typeface="Poppins"/>
                <a:cs typeface="Poppins"/>
                <a:sym typeface="Poppins"/>
                <a:hlinkClick r:id="rId14" tooltip="https://builtin.com/learn/tech-dictionary/java"/>
              </a:rPr>
              <a:t>Java</a:t>
            </a:r>
            <a:r>
              <a:rPr lang="en-US" sz="1739" spc="59">
                <a:solidFill>
                  <a:srgbClr val="FFFFFF"/>
                </a:solidFill>
                <a:latin typeface="Poppins"/>
                <a:ea typeface="Poppins"/>
                <a:cs typeface="Poppins"/>
                <a:sym typeface="Poppins"/>
              </a:rPr>
              <a:t> , </a:t>
            </a:r>
            <a:r>
              <a:rPr lang="en-US" sz="1739" spc="59" u="sng">
                <a:solidFill>
                  <a:srgbClr val="FFFFFF"/>
                </a:solidFill>
                <a:latin typeface="Poppins"/>
                <a:ea typeface="Poppins"/>
                <a:cs typeface="Poppins"/>
                <a:sym typeface="Poppins"/>
                <a:hlinkClick r:id="rId15" tooltip="https://builtin.com/learn/tech-dictionary/php"/>
              </a:rPr>
              <a:t>PHP</a:t>
            </a:r>
            <a:r>
              <a:rPr lang="en-US" sz="1739" spc="59">
                <a:solidFill>
                  <a:srgbClr val="FFFFFF"/>
                </a:solidFill>
                <a:latin typeface="Poppins"/>
                <a:ea typeface="Poppins"/>
                <a:cs typeface="Poppins"/>
                <a:sym typeface="Poppins"/>
              </a:rPr>
              <a:t> y </a:t>
            </a:r>
            <a:r>
              <a:rPr lang="en-US" sz="1739" spc="59" u="sng">
                <a:solidFill>
                  <a:srgbClr val="FFFFFF"/>
                </a:solidFill>
                <a:latin typeface="Poppins"/>
                <a:ea typeface="Poppins"/>
                <a:cs typeface="Poppins"/>
                <a:sym typeface="Poppins"/>
                <a:hlinkClick r:id="rId16" tooltip="https://builtin.com/learn/tech-dictionary/python"/>
              </a:rPr>
              <a:t>Python</a:t>
            </a:r>
            <a:r>
              <a:rPr lang="en-US" sz="1739" spc="59">
                <a:solidFill>
                  <a:srgbClr val="FFFFFF"/>
                </a:solidFill>
                <a:latin typeface="Poppins"/>
                <a:ea typeface="Poppins"/>
                <a:cs typeface="Poppins"/>
                <a:sym typeface="Poppins"/>
              </a:rPr>
              <a:t> .</a:t>
            </a:r>
          </a:p>
        </p:txBody>
      </p:sp>
      <p:grpSp>
        <p:nvGrpSpPr>
          <p:cNvPr name="Group 23" id="23"/>
          <p:cNvGrpSpPr/>
          <p:nvPr/>
        </p:nvGrpSpPr>
        <p:grpSpPr>
          <a:xfrm rot="0">
            <a:off x="12901936" y="4520390"/>
            <a:ext cx="3814194" cy="990424"/>
            <a:chOff x="0" y="0"/>
            <a:chExt cx="1004561" cy="260852"/>
          </a:xfrm>
        </p:grpSpPr>
        <p:sp>
          <p:nvSpPr>
            <p:cNvPr name="Freeform 24" id="24"/>
            <p:cNvSpPr/>
            <p:nvPr/>
          </p:nvSpPr>
          <p:spPr>
            <a:xfrm flipH="false" flipV="false" rot="0">
              <a:off x="0" y="0"/>
              <a:ext cx="1004561" cy="260852"/>
            </a:xfrm>
            <a:custGeom>
              <a:avLst/>
              <a:gdLst/>
              <a:ahLst/>
              <a:cxnLst/>
              <a:rect r="r" b="b" t="t" l="l"/>
              <a:pathLst>
                <a:path h="260852" w="1004561">
                  <a:moveTo>
                    <a:pt x="50744" y="0"/>
                  </a:moveTo>
                  <a:lnTo>
                    <a:pt x="953817" y="0"/>
                  </a:lnTo>
                  <a:cubicBezTo>
                    <a:pt x="967275" y="0"/>
                    <a:pt x="980182" y="5346"/>
                    <a:pt x="989699" y="14863"/>
                  </a:cubicBezTo>
                  <a:cubicBezTo>
                    <a:pt x="999215" y="24379"/>
                    <a:pt x="1004561" y="37286"/>
                    <a:pt x="1004561" y="50744"/>
                  </a:cubicBezTo>
                  <a:lnTo>
                    <a:pt x="1004561" y="210108"/>
                  </a:lnTo>
                  <a:cubicBezTo>
                    <a:pt x="1004561" y="238134"/>
                    <a:pt x="981842" y="260852"/>
                    <a:pt x="953817" y="260852"/>
                  </a:cubicBezTo>
                  <a:lnTo>
                    <a:pt x="50744" y="260852"/>
                  </a:lnTo>
                  <a:cubicBezTo>
                    <a:pt x="37286" y="260852"/>
                    <a:pt x="24379" y="255506"/>
                    <a:pt x="14863" y="245990"/>
                  </a:cubicBezTo>
                  <a:cubicBezTo>
                    <a:pt x="5346" y="236473"/>
                    <a:pt x="0" y="223567"/>
                    <a:pt x="0" y="210108"/>
                  </a:cubicBezTo>
                  <a:lnTo>
                    <a:pt x="0" y="50744"/>
                  </a:lnTo>
                  <a:cubicBezTo>
                    <a:pt x="0" y="37286"/>
                    <a:pt x="5346" y="24379"/>
                    <a:pt x="14863" y="14863"/>
                  </a:cubicBezTo>
                  <a:cubicBezTo>
                    <a:pt x="24379" y="5346"/>
                    <a:pt x="37286" y="0"/>
                    <a:pt x="50744"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5" id="25"/>
            <p:cNvSpPr txBox="true"/>
            <p:nvPr/>
          </p:nvSpPr>
          <p:spPr>
            <a:xfrm>
              <a:off x="0" y="28575"/>
              <a:ext cx="1004561" cy="232277"/>
            </a:xfrm>
            <a:prstGeom prst="rect">
              <a:avLst/>
            </a:prstGeom>
          </p:spPr>
          <p:txBody>
            <a:bodyPr anchor="ctr" rtlCol="false" tIns="50800" lIns="50800" bIns="50800" rIns="50800"/>
            <a:lstStyle/>
            <a:p>
              <a:pPr algn="ctr">
                <a:lnSpc>
                  <a:spcPts val="1826"/>
                </a:lnSpc>
              </a:pPr>
            </a:p>
          </p:txBody>
        </p:sp>
      </p:grpSp>
      <p:sp>
        <p:nvSpPr>
          <p:cNvPr name="Freeform 26" id="26"/>
          <p:cNvSpPr/>
          <p:nvPr/>
        </p:nvSpPr>
        <p:spPr>
          <a:xfrm flipH="false" flipV="false" rot="0">
            <a:off x="13087767" y="4762440"/>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7" id="27"/>
          <p:cNvSpPr txBox="true"/>
          <p:nvPr/>
        </p:nvSpPr>
        <p:spPr>
          <a:xfrm rot="0">
            <a:off x="13397263" y="4870333"/>
            <a:ext cx="3038854" cy="838225"/>
          </a:xfrm>
          <a:prstGeom prst="rect">
            <a:avLst/>
          </a:prstGeom>
        </p:spPr>
        <p:txBody>
          <a:bodyPr anchor="t" rtlCol="false" tIns="0" lIns="0" bIns="0" rIns="0">
            <a:spAutoFit/>
          </a:bodyPr>
          <a:lstStyle/>
          <a:p>
            <a:pPr algn="just">
              <a:lnSpc>
                <a:spcPts val="2101"/>
              </a:lnSpc>
            </a:pPr>
            <a:r>
              <a:rPr lang="en-US" b="true" sz="2001" spc="68">
                <a:solidFill>
                  <a:srgbClr val="FFFFFF"/>
                </a:solidFill>
                <a:latin typeface="Poppins Bold"/>
                <a:ea typeface="Poppins Bold"/>
                <a:cs typeface="Poppins Bold"/>
                <a:sym typeface="Poppins Bold"/>
              </a:rPr>
              <a:t>VENTAJAS DE SQLITE</a:t>
            </a:r>
          </a:p>
          <a:p>
            <a:pPr algn="just">
              <a:lnSpc>
                <a:spcPts val="2101"/>
              </a:lnSpc>
            </a:pPr>
          </a:p>
          <a:p>
            <a:pPr algn="just">
              <a:lnSpc>
                <a:spcPts val="2101"/>
              </a:lnSpc>
              <a:spcBef>
                <a:spcPct val="0"/>
              </a:spcBef>
            </a:pPr>
          </a:p>
        </p:txBody>
      </p:sp>
      <p:sp>
        <p:nvSpPr>
          <p:cNvPr name="TextBox 28" id="28"/>
          <p:cNvSpPr txBox="true"/>
          <p:nvPr/>
        </p:nvSpPr>
        <p:spPr>
          <a:xfrm rot="0">
            <a:off x="12901936" y="5727622"/>
            <a:ext cx="4357364" cy="3620259"/>
          </a:xfrm>
          <a:prstGeom prst="rect">
            <a:avLst/>
          </a:prstGeom>
        </p:spPr>
        <p:txBody>
          <a:bodyPr anchor="t" rtlCol="false" tIns="0" lIns="0" bIns="0" rIns="0">
            <a:spAutoFit/>
          </a:bodyPr>
          <a:lstStyle/>
          <a:p>
            <a:pPr algn="just">
              <a:lnSpc>
                <a:spcPts val="1616"/>
              </a:lnSpc>
              <a:spcBef>
                <a:spcPct val="0"/>
              </a:spcBef>
            </a:pPr>
            <a:r>
              <a:rPr lang="en-US" sz="1539" spc="52">
                <a:solidFill>
                  <a:srgbClr val="FFFFFF"/>
                </a:solidFill>
                <a:latin typeface="Poppins"/>
                <a:ea typeface="Poppins"/>
                <a:cs typeface="Poppins"/>
                <a:sym typeface="Poppins"/>
              </a:rPr>
              <a:t>SQLite, como base de datos integrada, permite a los desarrolladores almacenar datos sin necesidad de un </a:t>
            </a:r>
            <a:r>
              <a:rPr lang="en-US" sz="1539" spc="52" u="sng">
                <a:solidFill>
                  <a:srgbClr val="FFFFFF"/>
                </a:solidFill>
                <a:latin typeface="Poppins"/>
                <a:ea typeface="Poppins"/>
                <a:cs typeface="Poppins"/>
                <a:sym typeface="Poppins"/>
                <a:hlinkClick r:id="rId17" tooltip="https://builtin.com/articles/sql-server-database-management-tools"/>
              </a:rPr>
              <a:t>servidor de base de datos</a:t>
            </a:r>
            <a:r>
              <a:rPr lang="en-US" sz="1539" spc="52">
                <a:solidFill>
                  <a:srgbClr val="FFFFFF"/>
                </a:solidFill>
                <a:latin typeface="Poppins"/>
                <a:ea typeface="Poppins"/>
                <a:cs typeface="Poppins"/>
                <a:sym typeface="Poppins"/>
              </a:rPr>
              <a:t> independiente . Resulta útil para necesidades de datos reducidas, como dispositivos móviles y otras aplicaciones que requieren sistemas con bajo consumo de memoria. Como su nombre indica, SQLite ofrece a los desarrolladores una solución rápida, fiable y ligera para almacenar datos localmente en las aplicaciones. SQLite proporciona una interfaz minimalista para las aplicaciones, a la vez que ofrece todas las funcionalidades básicas de un SGBD relacional presente en </a:t>
            </a:r>
            <a:r>
              <a:rPr lang="en-US" sz="1539" spc="52" u="sng">
                <a:solidFill>
                  <a:srgbClr val="FFFFFF"/>
                </a:solidFill>
                <a:latin typeface="Poppins"/>
                <a:ea typeface="Poppins"/>
                <a:cs typeface="Poppins"/>
                <a:sym typeface="Poppins"/>
                <a:hlinkClick r:id="rId18" tooltip="https://builtin.com/articles/types-of-databases"/>
              </a:rPr>
              <a:t>sistemas de bases de datos</a:t>
            </a:r>
            <a:r>
              <a:rPr lang="en-US" sz="1539" spc="52">
                <a:solidFill>
                  <a:srgbClr val="FFFFFF"/>
                </a:solidFill>
                <a:latin typeface="Poppins"/>
                <a:ea typeface="Poppins"/>
                <a:cs typeface="Poppins"/>
                <a:sym typeface="Poppins"/>
              </a:rPr>
              <a:t> más extensos y complejos .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365251" y="-1543050"/>
            <a:ext cx="4199655" cy="3086100"/>
            <a:chOff x="0" y="0"/>
            <a:chExt cx="1106082" cy="812800"/>
          </a:xfrm>
        </p:grpSpPr>
        <p:sp>
          <p:nvSpPr>
            <p:cNvPr name="Freeform 3" id="3"/>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4" id="4"/>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5" id="5"/>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600950" y="9365373"/>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8" id="8"/>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9" id="9"/>
          <p:cNvSpPr/>
          <p:nvPr/>
        </p:nvSpPr>
        <p:spPr>
          <a:xfrm flipH="false" flipV="false" rot="0">
            <a:off x="14390656" y="-1681809"/>
            <a:ext cx="4607176" cy="5421018"/>
          </a:xfrm>
          <a:custGeom>
            <a:avLst/>
            <a:gdLst/>
            <a:ahLst/>
            <a:cxnLst/>
            <a:rect r="r" b="b" t="t" l="l"/>
            <a:pathLst>
              <a:path h="5421018" w="4607176">
                <a:moveTo>
                  <a:pt x="0" y="0"/>
                </a:moveTo>
                <a:lnTo>
                  <a:pt x="4607176" y="0"/>
                </a:lnTo>
                <a:lnTo>
                  <a:pt x="4607176" y="5421018"/>
                </a:lnTo>
                <a:lnTo>
                  <a:pt x="0" y="5421018"/>
                </a:lnTo>
                <a:lnTo>
                  <a:pt x="0" y="0"/>
                </a:lnTo>
                <a:close/>
              </a:path>
            </a:pathLst>
          </a:custGeom>
          <a:blipFill>
            <a:blip r:embed="rId4"/>
            <a:stretch>
              <a:fillRect l="0" t="0" r="0" b="0"/>
            </a:stretch>
          </a:blipFill>
        </p:spPr>
      </p:sp>
      <p:sp>
        <p:nvSpPr>
          <p:cNvPr name="Freeform 10" id="10"/>
          <p:cNvSpPr/>
          <p:nvPr/>
        </p:nvSpPr>
        <p:spPr>
          <a:xfrm flipH="false" flipV="false" rot="0">
            <a:off x="1165414" y="9365373"/>
            <a:ext cx="549282" cy="549282"/>
          </a:xfrm>
          <a:custGeom>
            <a:avLst/>
            <a:gdLst/>
            <a:ahLst/>
            <a:cxnLst/>
            <a:rect r="r" b="b" t="t" l="l"/>
            <a:pathLst>
              <a:path h="549282" w="549282">
                <a:moveTo>
                  <a:pt x="0" y="0"/>
                </a:moveTo>
                <a:lnTo>
                  <a:pt x="549282" y="0"/>
                </a:lnTo>
                <a:lnTo>
                  <a:pt x="549282" y="549282"/>
                </a:lnTo>
                <a:lnTo>
                  <a:pt x="0" y="5492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117422" y="1922978"/>
            <a:ext cx="9000132" cy="2258215"/>
          </a:xfrm>
          <a:custGeom>
            <a:avLst/>
            <a:gdLst/>
            <a:ahLst/>
            <a:cxnLst/>
            <a:rect r="r" b="b" t="t" l="l"/>
            <a:pathLst>
              <a:path h="2258215" w="9000132">
                <a:moveTo>
                  <a:pt x="0" y="0"/>
                </a:moveTo>
                <a:lnTo>
                  <a:pt x="9000132" y="0"/>
                </a:lnTo>
                <a:lnTo>
                  <a:pt x="9000132" y="2258215"/>
                </a:lnTo>
                <a:lnTo>
                  <a:pt x="0" y="22582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9930173" y="1353525"/>
            <a:ext cx="7634745" cy="8500222"/>
          </a:xfrm>
          <a:custGeom>
            <a:avLst/>
            <a:gdLst/>
            <a:ahLst/>
            <a:cxnLst/>
            <a:rect r="r" b="b" t="t" l="l"/>
            <a:pathLst>
              <a:path h="8500222" w="7634745">
                <a:moveTo>
                  <a:pt x="0" y="0"/>
                </a:moveTo>
                <a:lnTo>
                  <a:pt x="7634745" y="0"/>
                </a:lnTo>
                <a:lnTo>
                  <a:pt x="7634745" y="8500222"/>
                </a:lnTo>
                <a:lnTo>
                  <a:pt x="0" y="85002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4" id="14"/>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19</a:t>
            </a:r>
          </a:p>
        </p:txBody>
      </p:sp>
      <p:sp>
        <p:nvSpPr>
          <p:cNvPr name="TextBox 15" id="15"/>
          <p:cNvSpPr txBox="true"/>
          <p:nvPr/>
        </p:nvSpPr>
        <p:spPr>
          <a:xfrm rot="0">
            <a:off x="2066169" y="2778857"/>
            <a:ext cx="11069562" cy="652303"/>
          </a:xfrm>
          <a:prstGeom prst="rect">
            <a:avLst/>
          </a:prstGeom>
        </p:spPr>
        <p:txBody>
          <a:bodyPr anchor="t" rtlCol="false" tIns="0" lIns="0" bIns="0" rIns="0">
            <a:spAutoFit/>
          </a:bodyPr>
          <a:lstStyle/>
          <a:p>
            <a:pPr algn="l">
              <a:lnSpc>
                <a:spcPts val="4978"/>
              </a:lnSpc>
            </a:pPr>
            <a:r>
              <a:rPr lang="en-US" sz="4741" b="true">
                <a:solidFill>
                  <a:srgbClr val="FFFFFF"/>
                </a:solidFill>
                <a:latin typeface="TT Lakes Neue Expanded Bold"/>
                <a:ea typeface="TT Lakes Neue Expanded Bold"/>
                <a:cs typeface="TT Lakes Neue Expanded Bold"/>
                <a:sym typeface="TT Lakes Neue Expanded Bold"/>
              </a:rPr>
              <a:t>IMB DB2</a:t>
            </a:r>
          </a:p>
        </p:txBody>
      </p:sp>
      <p:sp>
        <p:nvSpPr>
          <p:cNvPr name="Freeform 16" id="16"/>
          <p:cNvSpPr/>
          <p:nvPr/>
        </p:nvSpPr>
        <p:spPr>
          <a:xfrm flipH="false" flipV="false" rot="0">
            <a:off x="11872932" y="3775743"/>
            <a:ext cx="2091627" cy="2057400"/>
          </a:xfrm>
          <a:custGeom>
            <a:avLst/>
            <a:gdLst/>
            <a:ahLst/>
            <a:cxnLst/>
            <a:rect r="r" b="b" t="t" l="l"/>
            <a:pathLst>
              <a:path h="2057400" w="2091627">
                <a:moveTo>
                  <a:pt x="0" y="0"/>
                </a:moveTo>
                <a:lnTo>
                  <a:pt x="2091626" y="0"/>
                </a:lnTo>
                <a:lnTo>
                  <a:pt x="2091626" y="2057400"/>
                </a:lnTo>
                <a:lnTo>
                  <a:pt x="0" y="2057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0">
            <a:off x="16213487" y="4574936"/>
            <a:ext cx="2091627" cy="2057400"/>
          </a:xfrm>
          <a:custGeom>
            <a:avLst/>
            <a:gdLst/>
            <a:ahLst/>
            <a:cxnLst/>
            <a:rect r="r" b="b" t="t" l="l"/>
            <a:pathLst>
              <a:path h="2057400" w="2091627">
                <a:moveTo>
                  <a:pt x="0" y="0"/>
                </a:moveTo>
                <a:lnTo>
                  <a:pt x="2091626" y="0"/>
                </a:lnTo>
                <a:lnTo>
                  <a:pt x="2091626" y="2057400"/>
                </a:lnTo>
                <a:lnTo>
                  <a:pt x="0" y="20574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8" id="18"/>
          <p:cNvGrpSpPr/>
          <p:nvPr/>
        </p:nvGrpSpPr>
        <p:grpSpPr>
          <a:xfrm rot="0">
            <a:off x="1117422" y="4600293"/>
            <a:ext cx="4500066" cy="748374"/>
            <a:chOff x="0" y="0"/>
            <a:chExt cx="1185203" cy="197103"/>
          </a:xfrm>
        </p:grpSpPr>
        <p:sp>
          <p:nvSpPr>
            <p:cNvPr name="Freeform 19" id="19"/>
            <p:cNvSpPr/>
            <p:nvPr/>
          </p:nvSpPr>
          <p:spPr>
            <a:xfrm flipH="false" flipV="false" rot="0">
              <a:off x="0" y="0"/>
              <a:ext cx="1185203" cy="197103"/>
            </a:xfrm>
            <a:custGeom>
              <a:avLst/>
              <a:gdLst/>
              <a:ahLst/>
              <a:cxnLst/>
              <a:rect r="r" b="b" t="t" l="l"/>
              <a:pathLst>
                <a:path h="197103" w="1185203">
                  <a:moveTo>
                    <a:pt x="43010" y="0"/>
                  </a:moveTo>
                  <a:lnTo>
                    <a:pt x="1142192" y="0"/>
                  </a:lnTo>
                  <a:cubicBezTo>
                    <a:pt x="1165946" y="0"/>
                    <a:pt x="1185203" y="19256"/>
                    <a:pt x="1185203" y="43010"/>
                  </a:cubicBezTo>
                  <a:lnTo>
                    <a:pt x="1185203" y="154093"/>
                  </a:lnTo>
                  <a:cubicBezTo>
                    <a:pt x="1185203" y="177846"/>
                    <a:pt x="1165946" y="197103"/>
                    <a:pt x="1142192" y="197103"/>
                  </a:cubicBezTo>
                  <a:lnTo>
                    <a:pt x="43010" y="197103"/>
                  </a:lnTo>
                  <a:cubicBezTo>
                    <a:pt x="19256" y="197103"/>
                    <a:pt x="0" y="177846"/>
                    <a:pt x="0" y="154093"/>
                  </a:cubicBezTo>
                  <a:lnTo>
                    <a:pt x="0" y="43010"/>
                  </a:lnTo>
                  <a:cubicBezTo>
                    <a:pt x="0" y="19256"/>
                    <a:pt x="19256" y="0"/>
                    <a:pt x="43010"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0" id="20"/>
            <p:cNvSpPr txBox="true"/>
            <p:nvPr/>
          </p:nvSpPr>
          <p:spPr>
            <a:xfrm>
              <a:off x="0" y="28575"/>
              <a:ext cx="1185203" cy="168528"/>
            </a:xfrm>
            <a:prstGeom prst="rect">
              <a:avLst/>
            </a:prstGeom>
          </p:spPr>
          <p:txBody>
            <a:bodyPr anchor="ctr" rtlCol="false" tIns="50800" lIns="50800" bIns="50800" rIns="50800"/>
            <a:lstStyle/>
            <a:p>
              <a:pPr algn="ctr">
                <a:lnSpc>
                  <a:spcPts val="1826"/>
                </a:lnSpc>
              </a:pPr>
            </a:p>
          </p:txBody>
        </p:sp>
      </p:grpSp>
      <p:sp>
        <p:nvSpPr>
          <p:cNvPr name="Freeform 21" id="21"/>
          <p:cNvSpPr/>
          <p:nvPr/>
        </p:nvSpPr>
        <p:spPr>
          <a:xfrm flipH="false" flipV="false" rot="0">
            <a:off x="1303253" y="4716887"/>
            <a:ext cx="309496" cy="527005"/>
          </a:xfrm>
          <a:custGeom>
            <a:avLst/>
            <a:gdLst/>
            <a:ahLst/>
            <a:cxnLst/>
            <a:rect r="r" b="b" t="t" l="l"/>
            <a:pathLst>
              <a:path h="527005" w="309496">
                <a:moveTo>
                  <a:pt x="0" y="0"/>
                </a:moveTo>
                <a:lnTo>
                  <a:pt x="309496" y="0"/>
                </a:lnTo>
                <a:lnTo>
                  <a:pt x="309496" y="527006"/>
                </a:lnTo>
                <a:lnTo>
                  <a:pt x="0" y="5270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2" id="22"/>
          <p:cNvSpPr txBox="true"/>
          <p:nvPr/>
        </p:nvSpPr>
        <p:spPr>
          <a:xfrm rot="0">
            <a:off x="1764080" y="4831421"/>
            <a:ext cx="43342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QUE ES </a:t>
            </a:r>
          </a:p>
        </p:txBody>
      </p:sp>
      <p:sp>
        <p:nvSpPr>
          <p:cNvPr name="TextBox 23" id="23"/>
          <p:cNvSpPr txBox="true"/>
          <p:nvPr/>
        </p:nvSpPr>
        <p:spPr>
          <a:xfrm rot="0">
            <a:off x="1117422" y="5565475"/>
            <a:ext cx="8026578" cy="9380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Lorem ipsum dolor sit amet, consectetur adipiscing elit, sed do eiusmod tempor incididunt ut labore et dolore magna aliqua. Lorem ipsum dolor sit amet, consectetur adipiscing elit, sed do eiusmod tempor incididunt ut labore et dolore magna aliqua.</a:t>
            </a:r>
            <a:r>
              <a:rPr lang="en-US" sz="1739" spc="59">
                <a:solidFill>
                  <a:srgbClr val="FFFFFF"/>
                </a:solidFill>
                <a:latin typeface="Poppins"/>
                <a:ea typeface="Poppins"/>
                <a:cs typeface="Poppins"/>
                <a:sym typeface="Poppins"/>
              </a:rPr>
              <a:t> </a:t>
            </a:r>
          </a:p>
        </p:txBody>
      </p:sp>
      <p:grpSp>
        <p:nvGrpSpPr>
          <p:cNvPr name="Group 24" id="24"/>
          <p:cNvGrpSpPr/>
          <p:nvPr/>
        </p:nvGrpSpPr>
        <p:grpSpPr>
          <a:xfrm rot="0">
            <a:off x="1117422" y="6884494"/>
            <a:ext cx="4500066" cy="748374"/>
            <a:chOff x="0" y="0"/>
            <a:chExt cx="1185203" cy="197103"/>
          </a:xfrm>
        </p:grpSpPr>
        <p:sp>
          <p:nvSpPr>
            <p:cNvPr name="Freeform 25" id="25"/>
            <p:cNvSpPr/>
            <p:nvPr/>
          </p:nvSpPr>
          <p:spPr>
            <a:xfrm flipH="false" flipV="false" rot="0">
              <a:off x="0" y="0"/>
              <a:ext cx="1185203" cy="197103"/>
            </a:xfrm>
            <a:custGeom>
              <a:avLst/>
              <a:gdLst/>
              <a:ahLst/>
              <a:cxnLst/>
              <a:rect r="r" b="b" t="t" l="l"/>
              <a:pathLst>
                <a:path h="197103" w="1185203">
                  <a:moveTo>
                    <a:pt x="43010" y="0"/>
                  </a:moveTo>
                  <a:lnTo>
                    <a:pt x="1142192" y="0"/>
                  </a:lnTo>
                  <a:cubicBezTo>
                    <a:pt x="1165946" y="0"/>
                    <a:pt x="1185203" y="19256"/>
                    <a:pt x="1185203" y="43010"/>
                  </a:cubicBezTo>
                  <a:lnTo>
                    <a:pt x="1185203" y="154093"/>
                  </a:lnTo>
                  <a:cubicBezTo>
                    <a:pt x="1185203" y="177846"/>
                    <a:pt x="1165946" y="197103"/>
                    <a:pt x="1142192" y="197103"/>
                  </a:cubicBezTo>
                  <a:lnTo>
                    <a:pt x="43010" y="197103"/>
                  </a:lnTo>
                  <a:cubicBezTo>
                    <a:pt x="19256" y="197103"/>
                    <a:pt x="0" y="177846"/>
                    <a:pt x="0" y="154093"/>
                  </a:cubicBezTo>
                  <a:lnTo>
                    <a:pt x="0" y="43010"/>
                  </a:lnTo>
                  <a:cubicBezTo>
                    <a:pt x="0" y="19256"/>
                    <a:pt x="19256" y="0"/>
                    <a:pt x="43010"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26" id="26"/>
            <p:cNvSpPr txBox="true"/>
            <p:nvPr/>
          </p:nvSpPr>
          <p:spPr>
            <a:xfrm>
              <a:off x="0" y="28575"/>
              <a:ext cx="1185203" cy="168528"/>
            </a:xfrm>
            <a:prstGeom prst="rect">
              <a:avLst/>
            </a:prstGeom>
          </p:spPr>
          <p:txBody>
            <a:bodyPr anchor="ctr" rtlCol="false" tIns="50800" lIns="50800" bIns="50800" rIns="50800"/>
            <a:lstStyle/>
            <a:p>
              <a:pPr algn="ctr">
                <a:lnSpc>
                  <a:spcPts val="1826"/>
                </a:lnSpc>
              </a:pPr>
            </a:p>
          </p:txBody>
        </p:sp>
      </p:grpSp>
      <p:sp>
        <p:nvSpPr>
          <p:cNvPr name="Freeform 27" id="27"/>
          <p:cNvSpPr/>
          <p:nvPr/>
        </p:nvSpPr>
        <p:spPr>
          <a:xfrm flipH="false" flipV="false" rot="0">
            <a:off x="1303253" y="7001088"/>
            <a:ext cx="309496" cy="527005"/>
          </a:xfrm>
          <a:custGeom>
            <a:avLst/>
            <a:gdLst/>
            <a:ahLst/>
            <a:cxnLst/>
            <a:rect r="r" b="b" t="t" l="l"/>
            <a:pathLst>
              <a:path h="527005" w="309496">
                <a:moveTo>
                  <a:pt x="0" y="0"/>
                </a:moveTo>
                <a:lnTo>
                  <a:pt x="309496" y="0"/>
                </a:lnTo>
                <a:lnTo>
                  <a:pt x="309496" y="527005"/>
                </a:lnTo>
                <a:lnTo>
                  <a:pt x="0" y="52700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8" id="28"/>
          <p:cNvSpPr txBox="true"/>
          <p:nvPr/>
        </p:nvSpPr>
        <p:spPr>
          <a:xfrm rot="0">
            <a:off x="1764080" y="7115621"/>
            <a:ext cx="3038854" cy="307463"/>
          </a:xfrm>
          <a:prstGeom prst="rect">
            <a:avLst/>
          </a:prstGeom>
        </p:spPr>
        <p:txBody>
          <a:bodyPr anchor="t" rtlCol="false" tIns="0" lIns="0" bIns="0" rIns="0">
            <a:spAutoFit/>
          </a:bodyPr>
          <a:lstStyle/>
          <a:p>
            <a:pPr algn="just">
              <a:lnSpc>
                <a:spcPts val="2246"/>
              </a:lnSpc>
              <a:spcBef>
                <a:spcPct val="0"/>
              </a:spcBef>
            </a:pPr>
            <a:r>
              <a:rPr lang="en-US" b="true" sz="2139" spc="72">
                <a:solidFill>
                  <a:srgbClr val="FFFFFF"/>
                </a:solidFill>
                <a:latin typeface="Poppins Bold"/>
                <a:ea typeface="Poppins Bold"/>
                <a:cs typeface="Poppins Bold"/>
                <a:sym typeface="Poppins Bold"/>
              </a:rPr>
              <a:t>AUGMENTED REALITY</a:t>
            </a:r>
          </a:p>
        </p:txBody>
      </p:sp>
      <p:sp>
        <p:nvSpPr>
          <p:cNvPr name="TextBox 29" id="29"/>
          <p:cNvSpPr txBox="true"/>
          <p:nvPr/>
        </p:nvSpPr>
        <p:spPr>
          <a:xfrm rot="0">
            <a:off x="1117422" y="7849676"/>
            <a:ext cx="8026578" cy="938019"/>
          </a:xfrm>
          <a:prstGeom prst="rect">
            <a:avLst/>
          </a:prstGeom>
        </p:spPr>
        <p:txBody>
          <a:bodyPr anchor="t" rtlCol="false" tIns="0" lIns="0" bIns="0" rIns="0">
            <a:spAutoFit/>
          </a:bodyPr>
          <a:lstStyle/>
          <a:p>
            <a:pPr algn="just">
              <a:lnSpc>
                <a:spcPts val="1826"/>
              </a:lnSpc>
              <a:spcBef>
                <a:spcPct val="0"/>
              </a:spcBef>
            </a:pPr>
            <a:r>
              <a:rPr lang="en-US" sz="1739" spc="59">
                <a:solidFill>
                  <a:srgbClr val="FFFFFF"/>
                </a:solidFill>
                <a:latin typeface="Poppins"/>
                <a:ea typeface="Poppins"/>
                <a:cs typeface="Poppins"/>
                <a:sym typeface="Poppins"/>
              </a:rPr>
              <a:t>Lorem ipsum dolor sit amet, consectetur adipiscing elit, sed do eiusmod tempor incididunt ut labore et dolore magna aliqua. Lorem ipsum dolor sit amet, consectetur adipiscing elit, sed do eiusmod tempor incididunt ut labore et dolore magna aliqua.</a:t>
            </a:r>
            <a:r>
              <a:rPr lang="en-US" sz="1739" spc="59">
                <a:solidFill>
                  <a:srgbClr val="FFFFFF"/>
                </a:solidFill>
                <a:latin typeface="Poppins"/>
                <a:ea typeface="Poppins"/>
                <a:cs typeface="Poppins"/>
                <a:sym typeface="Poppins"/>
              </a:rPr>
              <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97B2">
                <a:alpha val="100000"/>
              </a:srgbClr>
            </a:gs>
            <a:gs pos="50000">
              <a:srgbClr val="3A6A9E">
                <a:alpha val="100000"/>
              </a:srgbClr>
            </a:gs>
            <a:gs pos="100000">
              <a:srgbClr val="103863">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4416186" y="1135773"/>
            <a:ext cx="6994113" cy="8229600"/>
          </a:xfrm>
          <a:custGeom>
            <a:avLst/>
            <a:gdLst/>
            <a:ahLst/>
            <a:cxnLst/>
            <a:rect r="r" b="b" t="t" l="l"/>
            <a:pathLst>
              <a:path h="8229600" w="6994113">
                <a:moveTo>
                  <a:pt x="0" y="0"/>
                </a:moveTo>
                <a:lnTo>
                  <a:pt x="6994113" y="0"/>
                </a:lnTo>
                <a:lnTo>
                  <a:pt x="6994113" y="8229600"/>
                </a:lnTo>
                <a:lnTo>
                  <a:pt x="0" y="8229600"/>
                </a:lnTo>
                <a:lnTo>
                  <a:pt x="0" y="0"/>
                </a:lnTo>
                <a:close/>
              </a:path>
            </a:pathLst>
          </a:custGeom>
          <a:blipFill>
            <a:blip r:embed="rId2"/>
            <a:stretch>
              <a:fillRect l="0" t="0" r="0" b="0"/>
            </a:stretch>
          </a:blipFill>
        </p:spPr>
      </p:sp>
      <p:grpSp>
        <p:nvGrpSpPr>
          <p:cNvPr name="Group 3" id="3"/>
          <p:cNvGrpSpPr/>
          <p:nvPr/>
        </p:nvGrpSpPr>
        <p:grpSpPr>
          <a:xfrm rot="0">
            <a:off x="-365251" y="-1543050"/>
            <a:ext cx="4199655" cy="3086100"/>
            <a:chOff x="0" y="0"/>
            <a:chExt cx="1106082" cy="812800"/>
          </a:xfrm>
        </p:grpSpPr>
        <p:sp>
          <p:nvSpPr>
            <p:cNvPr name="Freeform 4" id="4"/>
            <p:cNvSpPr/>
            <p:nvPr/>
          </p:nvSpPr>
          <p:spPr>
            <a:xfrm flipH="false" flipV="false" rot="0">
              <a:off x="0" y="0"/>
              <a:ext cx="1106082" cy="812800"/>
            </a:xfrm>
            <a:custGeom>
              <a:avLst/>
              <a:gdLst/>
              <a:ahLst/>
              <a:cxnLst/>
              <a:rect r="r" b="b" t="t" l="l"/>
              <a:pathLst>
                <a:path h="812800" w="1106082">
                  <a:moveTo>
                    <a:pt x="46087" y="0"/>
                  </a:moveTo>
                  <a:lnTo>
                    <a:pt x="1059995" y="0"/>
                  </a:lnTo>
                  <a:cubicBezTo>
                    <a:pt x="1072218" y="0"/>
                    <a:pt x="1083941" y="4856"/>
                    <a:pt x="1092584" y="13498"/>
                  </a:cubicBezTo>
                  <a:cubicBezTo>
                    <a:pt x="1101226" y="22141"/>
                    <a:pt x="1106082" y="33864"/>
                    <a:pt x="1106082" y="46087"/>
                  </a:cubicBezTo>
                  <a:lnTo>
                    <a:pt x="1106082" y="766713"/>
                  </a:lnTo>
                  <a:cubicBezTo>
                    <a:pt x="1106082" y="778936"/>
                    <a:pt x="1101226" y="790659"/>
                    <a:pt x="1092584" y="799302"/>
                  </a:cubicBezTo>
                  <a:cubicBezTo>
                    <a:pt x="1083941" y="807944"/>
                    <a:pt x="1072218" y="812800"/>
                    <a:pt x="1059995" y="812800"/>
                  </a:cubicBezTo>
                  <a:lnTo>
                    <a:pt x="46087" y="812800"/>
                  </a:lnTo>
                  <a:cubicBezTo>
                    <a:pt x="33864" y="812800"/>
                    <a:pt x="22141" y="807944"/>
                    <a:pt x="13498" y="799302"/>
                  </a:cubicBezTo>
                  <a:cubicBezTo>
                    <a:pt x="4856" y="790659"/>
                    <a:pt x="0" y="778936"/>
                    <a:pt x="0" y="766713"/>
                  </a:cubicBezTo>
                  <a:lnTo>
                    <a:pt x="0" y="46087"/>
                  </a:lnTo>
                  <a:cubicBezTo>
                    <a:pt x="0" y="33864"/>
                    <a:pt x="4856" y="22141"/>
                    <a:pt x="13498" y="13498"/>
                  </a:cubicBezTo>
                  <a:cubicBezTo>
                    <a:pt x="22141" y="4856"/>
                    <a:pt x="33864" y="0"/>
                    <a:pt x="46087"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5" id="5"/>
            <p:cNvSpPr txBox="true"/>
            <p:nvPr/>
          </p:nvSpPr>
          <p:spPr>
            <a:xfrm>
              <a:off x="0" y="28575"/>
              <a:ext cx="1106082" cy="784225"/>
            </a:xfrm>
            <a:prstGeom prst="rect">
              <a:avLst/>
            </a:prstGeom>
          </p:spPr>
          <p:txBody>
            <a:bodyPr anchor="ctr" rtlCol="false" tIns="50800" lIns="50800" bIns="50800" rIns="50800"/>
            <a:lstStyle/>
            <a:p>
              <a:pPr algn="ctr">
                <a:lnSpc>
                  <a:spcPts val="1826"/>
                </a:lnSpc>
              </a:pPr>
            </a:p>
          </p:txBody>
        </p:sp>
      </p:grpSp>
      <p:sp>
        <p:nvSpPr>
          <p:cNvPr name="Freeform 6" id="6"/>
          <p:cNvSpPr/>
          <p:nvPr/>
        </p:nvSpPr>
        <p:spPr>
          <a:xfrm flipH="false" flipV="false" rot="0">
            <a:off x="1028700" y="509932"/>
            <a:ext cx="685996" cy="518768"/>
          </a:xfrm>
          <a:custGeom>
            <a:avLst/>
            <a:gdLst/>
            <a:ahLst/>
            <a:cxnLst/>
            <a:rect r="r" b="b" t="t" l="l"/>
            <a:pathLst>
              <a:path h="518768" w="685996">
                <a:moveTo>
                  <a:pt x="0" y="0"/>
                </a:moveTo>
                <a:lnTo>
                  <a:pt x="685996" y="0"/>
                </a:lnTo>
                <a:lnTo>
                  <a:pt x="685996" y="518768"/>
                </a:lnTo>
                <a:lnTo>
                  <a:pt x="0" y="5187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600950" y="9365373"/>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gradFill rotWithShape="true">
              <a:gsLst>
                <a:gs pos="0">
                  <a:srgbClr val="0097B2">
                    <a:alpha val="100000"/>
                  </a:srgbClr>
                </a:gs>
                <a:gs pos="50000">
                  <a:srgbClr val="3A6A9E">
                    <a:alpha val="100000"/>
                  </a:srgbClr>
                </a:gs>
                <a:gs pos="100000">
                  <a:srgbClr val="103863">
                    <a:alpha val="100000"/>
                  </a:srgbClr>
                </a:gs>
              </a:gsLst>
              <a:lin ang="0"/>
            </a:gradFill>
            <a:ln w="19050" cap="rnd">
              <a:solidFill>
                <a:srgbClr val="000000"/>
              </a:solidFill>
              <a:prstDash val="solid"/>
              <a:round/>
            </a:ln>
          </p:spPr>
        </p:sp>
        <p:sp>
          <p:nvSpPr>
            <p:cNvPr name="TextBox 9" id="9"/>
            <p:cNvSpPr txBox="true"/>
            <p:nvPr/>
          </p:nvSpPr>
          <p:spPr>
            <a:xfrm>
              <a:off x="0" y="28575"/>
              <a:ext cx="812800" cy="784225"/>
            </a:xfrm>
            <a:prstGeom prst="rect">
              <a:avLst/>
            </a:prstGeom>
          </p:spPr>
          <p:txBody>
            <a:bodyPr anchor="ctr" rtlCol="false" tIns="50800" lIns="50800" bIns="50800" rIns="50800"/>
            <a:lstStyle/>
            <a:p>
              <a:pPr algn="ctr">
                <a:lnSpc>
                  <a:spcPts val="1826"/>
                </a:lnSpc>
              </a:pPr>
            </a:p>
          </p:txBody>
        </p:sp>
      </p:grpSp>
      <p:sp>
        <p:nvSpPr>
          <p:cNvPr name="Freeform 10" id="10"/>
          <p:cNvSpPr/>
          <p:nvPr/>
        </p:nvSpPr>
        <p:spPr>
          <a:xfrm flipH="false" flipV="false" rot="0">
            <a:off x="13762244" y="2186245"/>
            <a:ext cx="6994113" cy="8229600"/>
          </a:xfrm>
          <a:custGeom>
            <a:avLst/>
            <a:gdLst/>
            <a:ahLst/>
            <a:cxnLst/>
            <a:rect r="r" b="b" t="t" l="l"/>
            <a:pathLst>
              <a:path h="8229600" w="6994113">
                <a:moveTo>
                  <a:pt x="0" y="0"/>
                </a:moveTo>
                <a:lnTo>
                  <a:pt x="6994112" y="0"/>
                </a:lnTo>
                <a:lnTo>
                  <a:pt x="6994112" y="8229600"/>
                </a:lnTo>
                <a:lnTo>
                  <a:pt x="0" y="8229600"/>
                </a:lnTo>
                <a:lnTo>
                  <a:pt x="0" y="0"/>
                </a:lnTo>
                <a:close/>
              </a:path>
            </a:pathLst>
          </a:custGeom>
          <a:blipFill>
            <a:blip r:embed="rId2"/>
            <a:stretch>
              <a:fillRect l="0" t="0" r="0" b="0"/>
            </a:stretch>
          </a:blipFill>
        </p:spPr>
      </p:sp>
      <p:sp>
        <p:nvSpPr>
          <p:cNvPr name="Freeform 11" id="11"/>
          <p:cNvSpPr/>
          <p:nvPr/>
        </p:nvSpPr>
        <p:spPr>
          <a:xfrm flipH="false" flipV="false" rot="0">
            <a:off x="1028700" y="1653955"/>
            <a:ext cx="16514364" cy="7086163"/>
          </a:xfrm>
          <a:custGeom>
            <a:avLst/>
            <a:gdLst/>
            <a:ahLst/>
            <a:cxnLst/>
            <a:rect r="r" b="b" t="t" l="l"/>
            <a:pathLst>
              <a:path h="7086163" w="16514364">
                <a:moveTo>
                  <a:pt x="0" y="0"/>
                </a:moveTo>
                <a:lnTo>
                  <a:pt x="16514364" y="0"/>
                </a:lnTo>
                <a:lnTo>
                  <a:pt x="16514364" y="7086163"/>
                </a:lnTo>
                <a:lnTo>
                  <a:pt x="0" y="70861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887779" y="672161"/>
            <a:ext cx="1678700" cy="356539"/>
          </a:xfrm>
          <a:prstGeom prst="rect">
            <a:avLst/>
          </a:prstGeom>
        </p:spPr>
        <p:txBody>
          <a:bodyPr anchor="t" rtlCol="false" tIns="0" lIns="0" bIns="0" rIns="0">
            <a:spAutoFit/>
          </a:bodyPr>
          <a:lstStyle/>
          <a:p>
            <a:pPr algn="l">
              <a:lnSpc>
                <a:spcPts val="1383"/>
              </a:lnSpc>
            </a:pPr>
            <a:r>
              <a:rPr lang="en-US" sz="1317" b="true">
                <a:solidFill>
                  <a:srgbClr val="FFFFFF"/>
                </a:solidFill>
                <a:latin typeface="TT Lakes Neue Expanded Bold"/>
                <a:ea typeface="TT Lakes Neue Expanded Bold"/>
                <a:cs typeface="TT Lakes Neue Expanded Bold"/>
                <a:sym typeface="TT Lakes Neue Expanded Bold"/>
              </a:rPr>
              <a:t>THYNK UNLIMITED</a:t>
            </a:r>
          </a:p>
        </p:txBody>
      </p:sp>
      <p:sp>
        <p:nvSpPr>
          <p:cNvPr name="TextBox 13" id="13"/>
          <p:cNvSpPr txBox="true"/>
          <p:nvPr/>
        </p:nvSpPr>
        <p:spPr>
          <a:xfrm rot="0">
            <a:off x="8245241" y="9751450"/>
            <a:ext cx="1684932" cy="233169"/>
          </a:xfrm>
          <a:prstGeom prst="rect">
            <a:avLst/>
          </a:prstGeom>
        </p:spPr>
        <p:txBody>
          <a:bodyPr anchor="t" rtlCol="false" tIns="0" lIns="0" bIns="0" rIns="0">
            <a:spAutoFit/>
          </a:bodyPr>
          <a:lstStyle/>
          <a:p>
            <a:pPr algn="ctr">
              <a:lnSpc>
                <a:spcPts val="1826"/>
              </a:lnSpc>
            </a:pPr>
            <a:r>
              <a:rPr lang="en-US" b="true" sz="1739">
                <a:solidFill>
                  <a:srgbClr val="FFFFFF"/>
                </a:solidFill>
                <a:latin typeface="TT Lakes Neue Expanded Bold"/>
                <a:ea typeface="TT Lakes Neue Expanded Bold"/>
                <a:cs typeface="TT Lakes Neue Expanded Bold"/>
                <a:sym typeface="TT Lakes Neue Expanded Bold"/>
              </a:rPr>
              <a:t>PAGE 20</a:t>
            </a:r>
          </a:p>
        </p:txBody>
      </p:sp>
      <p:sp>
        <p:nvSpPr>
          <p:cNvPr name="TextBox 14" id="14"/>
          <p:cNvSpPr txBox="true"/>
          <p:nvPr/>
        </p:nvSpPr>
        <p:spPr>
          <a:xfrm rot="0">
            <a:off x="3108024" y="4190186"/>
            <a:ext cx="11959365" cy="1407068"/>
          </a:xfrm>
          <a:prstGeom prst="rect">
            <a:avLst/>
          </a:prstGeom>
        </p:spPr>
        <p:txBody>
          <a:bodyPr anchor="t" rtlCol="false" tIns="0" lIns="0" bIns="0" rIns="0">
            <a:spAutoFit/>
          </a:bodyPr>
          <a:lstStyle/>
          <a:p>
            <a:pPr algn="ctr">
              <a:lnSpc>
                <a:spcPts val="10705"/>
              </a:lnSpc>
            </a:pPr>
            <a:r>
              <a:rPr lang="en-US" b="true" sz="10195">
                <a:solidFill>
                  <a:srgbClr val="FFFFFF"/>
                </a:solidFill>
                <a:latin typeface="TT Lakes Neue Expanded Bold"/>
                <a:ea typeface="TT Lakes Neue Expanded Bold"/>
                <a:cs typeface="TT Lakes Neue Expanded Bold"/>
                <a:sym typeface="TT Lakes Neue Expanded Bold"/>
              </a:rPr>
              <a:t>THANK YOU!</a:t>
            </a:r>
          </a:p>
        </p:txBody>
      </p:sp>
      <p:sp>
        <p:nvSpPr>
          <p:cNvPr name="TextBox 15" id="15"/>
          <p:cNvSpPr txBox="true"/>
          <p:nvPr/>
        </p:nvSpPr>
        <p:spPr>
          <a:xfrm rot="0">
            <a:off x="5074418" y="5949767"/>
            <a:ext cx="8026578" cy="1002788"/>
          </a:xfrm>
          <a:prstGeom prst="rect">
            <a:avLst/>
          </a:prstGeom>
        </p:spPr>
        <p:txBody>
          <a:bodyPr anchor="t" rtlCol="false" tIns="0" lIns="0" bIns="0" rIns="0">
            <a:spAutoFit/>
          </a:bodyPr>
          <a:lstStyle/>
          <a:p>
            <a:pPr algn="ctr">
              <a:lnSpc>
                <a:spcPts val="3821"/>
              </a:lnSpc>
              <a:spcBef>
                <a:spcPct val="0"/>
              </a:spcBef>
            </a:pPr>
            <a:r>
              <a:rPr lang="en-US" sz="3639" i="true" spc="123">
                <a:solidFill>
                  <a:srgbClr val="FFFFFF"/>
                </a:solidFill>
                <a:latin typeface="Poppins Italics"/>
                <a:ea typeface="Poppins Italics"/>
                <a:cs typeface="Poppins Italics"/>
                <a:sym typeface="Poppins Italics"/>
              </a:rPr>
              <a:t>Exploring the future of</a:t>
            </a:r>
            <a:r>
              <a:rPr lang="en-US" sz="3639" i="true" spc="123">
                <a:solidFill>
                  <a:srgbClr val="FFFFFF"/>
                </a:solidFill>
                <a:latin typeface="Poppins Italics"/>
                <a:ea typeface="Poppins Italics"/>
                <a:cs typeface="Poppins Italics"/>
                <a:sym typeface="Poppins Italics"/>
              </a:rPr>
              <a:t> c</a:t>
            </a:r>
            <a:r>
              <a:rPr lang="en-US" sz="3639" i="true" spc="123">
                <a:solidFill>
                  <a:srgbClr val="FFFFFF"/>
                </a:solidFill>
                <a:latin typeface="Poppins Italics"/>
                <a:ea typeface="Poppins Italics"/>
                <a:cs typeface="Poppins Italics"/>
                <a:sym typeface="Poppins Italics"/>
              </a:rPr>
              <a:t>omputing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DAHIzf2_VS4</dc:identifier>
  <dcterms:modified xsi:type="dcterms:W3CDTF">2011-08-01T06:04:30Z</dcterms:modified>
  <cp:revision>1</cp:revision>
  <dc:title>Green and Blue Futuristic Technology Computer Science Presentation</dc:title>
</cp:coreProperties>
</file>